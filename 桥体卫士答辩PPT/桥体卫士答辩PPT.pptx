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1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3" Type="http://schemas.openxmlformats.org/officeDocument/2006/relationships/tableStyles" Target="tableStyles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12" Type="http://schemas.openxmlformats.org/officeDocument/2006/relationships/presProps" Target="presProp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381000" y="0"/>
            <a:ext cx="11430000" cy="171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600075"/>
            <a:ext cx="1066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225">
                <a:solidFill>
                  <a:srgbClr val="DCE7F5"/>
                </a:solidFill>
                <a:latin typeface="Microsoft YaHei"/>
                <a:ea typeface="Microsoft YaHei"/>
              </a:rPr>
              <a:t>桥梁结构健康监测</a:t>
            </a:r>
            <a:r>
              <a:rPr lang="en-US" sz="1650" b="1" spc="225">
                <a:solidFill>
                  <a:srgbClr val="DCE7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 spc="225">
                <a:solidFill>
                  <a:srgbClr val="DCE7F5"/>
                </a:solidFill>
                <a:latin typeface="Microsoft YaHei"/>
                <a:ea typeface="Microsoft YaHei"/>
              </a:rPr>
              <a:t>缩尺原型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95250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DB8DC"/>
                </a:solidFill>
                <a:latin typeface="Microsoft YaHei"/>
                <a:ea typeface="Microsoft YaHei"/>
              </a:rPr>
              <a:t>职业院校技能竞赛</a:t>
            </a:r>
            <a:r>
              <a:rPr lang="en-US" sz="1125">
                <a:solidFill>
                  <a:srgbClr val="9DB8D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DB8DC"/>
                </a:solidFill>
                <a:latin typeface="Microsoft YaHei"/>
                <a:ea typeface="Microsoft YaHei"/>
              </a:rPr>
              <a:t>软件技术专业</a:t>
            </a:r>
            <a:r>
              <a:rPr lang="en-US" sz="1125">
                <a:solidFill>
                  <a:srgbClr val="9DB8DC"/>
                </a:solidFill>
                <a:latin typeface="Microsoft YaHei"/>
                <a:ea typeface="Microsoft YaHei"/>
              </a:rPr>
              <a:t xml:space="preserve"> · 4 </a:t>
            </a:r>
            <a:r>
              <a:rPr lang="zh-CN" sz="1125">
                <a:solidFill>
                  <a:srgbClr val="9DB8DC"/>
                </a:solidFill>
                <a:latin typeface="Microsoft YaHei"/>
                <a:ea typeface="Microsoft YaHei"/>
              </a:rPr>
              <a:t>人团队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191000" y="2781300"/>
            <a:ext cx="38100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900" b="1" spc="600">
                <a:solidFill>
                  <a:srgbClr val="0E3F8C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238750" y="4010025"/>
            <a:ext cx="17145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4914900" y="4257675"/>
            <a:ext cx="23717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spc="150">
                <a:solidFill>
                  <a:srgbClr val="4A5568"/>
                </a:solidFill>
                <a:latin typeface="Microsoft YaHei"/>
                <a:ea typeface="Microsoft YaHei"/>
              </a:rPr>
              <a:t>Bridge Guardian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4324350" y="4733925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采集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判断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存储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展示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处置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全闭环监测原型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381000" y="6000750"/>
            <a:ext cx="11430000" cy="857250"/>
          </a:xfrm>
          <a:custGeom>
            <a:pathLst>
              <a:path w="1200" h="9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81000" y="6343650"/>
            <a:ext cx="1743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答辩时间：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591800" y="63436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汇报人：团队组长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8101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为什么做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桥梁受载监测的痛点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81000" y="1009650"/>
            <a:ext cx="5943600" cy="2390775"/>
          </a:xfrm>
          <a:prstGeom prst="roundRect">
            <a:avLst>
              <a:gd name="adj" fmla="val 398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90550" y="1847850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真实桥梁监测的难点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90550" y="2190750"/>
            <a:ext cx="5524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设备昂贵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部署困难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依赖工程级标定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难以在教学与演示中复现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381000" y="3552825"/>
            <a:ext cx="5943600" cy="2752725"/>
          </a:xfrm>
          <a:prstGeom prst="roundRect">
            <a:avLst>
              <a:gd name="adj" fmla="val 346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90550" y="4391025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我们的方案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90550" y="4733925"/>
            <a:ext cx="5524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低成本缩尺原型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完整演示「采集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判断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存储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展示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处置」全闭环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591300" y="2476500"/>
            <a:ext cx="52197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桥梁长期受载，结构健康关乎安全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591300" y="3048000"/>
            <a:ext cx="52197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我们用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ESP32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压力传感器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Flask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平台，做一个可运行、可解释、可追溯的受载监测原型，把整条监测链路完整呈现出来。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591300" y="4410075"/>
            <a:ext cx="5219700" cy="438150"/>
          </a:xfrm>
          <a:prstGeom prst="roundRect">
            <a:avLst>
              <a:gd name="adj" fmla="val 1739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743700" y="4524375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定位：缩尺模型受载变化模拟（诚实边界，不夸大精度）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381000" y="6477000"/>
            <a:ext cx="11430000" cy="381000"/>
          </a:xfrm>
          <a:custGeom>
            <a:pathLst>
              <a:path w="1200" h="4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895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六层架构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数据源可插拔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381000" y="1009650"/>
            <a:ext cx="3200400" cy="5295900"/>
          </a:xfrm>
          <a:prstGeom prst="roundRect">
            <a:avLst>
              <a:gd name="adj" fmla="val 297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3086100"/>
            <a:ext cx="2743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六层解耦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3562350"/>
            <a:ext cx="27432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9D9EF"/>
                </a:solidFill>
                <a:latin typeface="Microsoft YaHei"/>
                <a:ea typeface="Microsoft YaHei"/>
              </a:rPr>
              <a:t>核心是采集层</a:t>
            </a:r>
            <a:r>
              <a:rPr lang="en-US" sz="1350">
                <a:solidFill>
                  <a:srgbClr val="C9D9EF"/>
                </a:solidFill>
                <a:latin typeface="Microsoft YaHei"/>
                <a:ea typeface="Microsoft YaHei"/>
              </a:rPr>
              <a:t xml:space="preserve"> DataSource </a:t>
            </a:r>
            <a:r>
              <a:rPr lang="zh-CN" sz="1350">
                <a:solidFill>
                  <a:srgbClr val="C9D9EF"/>
                </a:solidFill>
                <a:latin typeface="Microsoft YaHei"/>
                <a:ea typeface="Microsoft YaHei"/>
              </a:rPr>
              <a:t>抽象：换数据源，不改上层逻辑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810000" y="1009650"/>
            <a:ext cx="8001000" cy="419100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962400" y="11049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495800" y="1104900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硬件层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505450" y="1123950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ESP32 + HX711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传感器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810000" y="1981200"/>
            <a:ext cx="8001000" cy="419100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962400" y="20764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495800" y="2076450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采集层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505450" y="2095500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DataSource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抽象（模拟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串口）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0" y="2962275"/>
            <a:ext cx="8001000" cy="419100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962400" y="30575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495800" y="3057525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规则引擎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505450" y="3076575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类可解释规则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3810000" y="3933825"/>
            <a:ext cx="8001000" cy="419100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962400" y="40290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95800" y="4029075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505450" y="4048125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SQLite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五表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CSV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810000" y="4914900"/>
            <a:ext cx="8001000" cy="419100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962400" y="50101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495800" y="5010150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服务层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505450" y="5029200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Flask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统一鉴权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810000" y="5886450"/>
            <a:ext cx="8001000" cy="419100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962400" y="59817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495800" y="5981700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展示层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505450" y="6000750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实时大屏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历史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设置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6477000"/>
            <a:ext cx="11430000" cy="381000"/>
          </a:xfrm>
          <a:custGeom>
            <a:pathLst>
              <a:path w="1200" h="4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6766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双模式数据源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断线不造假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1009650"/>
            <a:ext cx="6724650" cy="438150"/>
          </a:xfrm>
          <a:prstGeom prst="roundRect">
            <a:avLst>
              <a:gd name="adj" fmla="val 1739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33400" y="112395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DATA_SOURCE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905000" y="112395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环境变量一键切换，无需改代码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81000" y="1581150"/>
            <a:ext cx="6724650" cy="2295525"/>
          </a:xfrm>
          <a:prstGeom prst="roundRect">
            <a:avLst>
              <a:gd name="adj" fmla="val 41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52450" y="1752600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模拟模式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52450" y="2076450"/>
            <a:ext cx="63817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内置模拟器生成数据，用于开发、测试与现场兜底，大屏明确标注「数据源：模拟」。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4010025"/>
            <a:ext cx="6724650" cy="2295525"/>
          </a:xfrm>
          <a:prstGeom prst="roundRect">
            <a:avLst>
              <a:gd name="adj" fmla="val 4149"/>
            </a:avLst>
          </a:prstGeom>
          <a:solidFill>
            <a:srgbClr val="F7F9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52450" y="4181475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真实串口模式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52450" y="4505325"/>
            <a:ext cx="63817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USB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串口直连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ESP32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，离线可用、可验证；大屏标注「数据源：串口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(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真实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」。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334250" y="1009650"/>
            <a:ext cx="4476750" cy="5295900"/>
          </a:xfrm>
          <a:prstGeom prst="roundRect">
            <a:avLst>
              <a:gd name="adj" fmla="val 2128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524750" y="120015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设备健康度三要素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24750" y="1600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715250" y="15430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心跳时间戳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524750" y="1914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715250" y="18573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连续超时计数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7524750" y="2228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715250" y="21717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最近错误原因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524750" y="2581275"/>
            <a:ext cx="4095750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658100" y="2695575"/>
            <a:ext cx="3829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断线立即显示「设备离线」，绝不伪造在线或数据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381000" y="6477000"/>
            <a:ext cx="11430000" cy="381000"/>
          </a:xfrm>
          <a:custGeom>
            <a:pathLst>
              <a:path w="1200" h="4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6305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类可解释规则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每条报警说清「为什么」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381000" y="1009650"/>
            <a:ext cx="3429000" cy="5067300"/>
          </a:xfrm>
          <a:prstGeom prst="roundRect">
            <a:avLst>
              <a:gd name="adj" fmla="val 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657350" y="2371725"/>
            <a:ext cx="885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0E3F8C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409700" y="416242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类可解释规则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247775" y="4533900"/>
            <a:ext cx="1704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边沿触发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滞回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不刷屏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076700" y="2057400"/>
            <a:ext cx="7734300" cy="400050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210050" y="2152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阈值超限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200650" y="2162175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应变值超过阈值，分级：预警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报警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严重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076700" y="2571750"/>
            <a:ext cx="7734300" cy="400050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210050" y="26670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变化率突变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200650" y="2676525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相邻采样周期变化量超限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076700" y="3086100"/>
            <a:ext cx="7734300" cy="400050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210050" y="31813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持续超限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200650" y="3190875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连续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点超限（区别于单点毛刺）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076700" y="3600450"/>
            <a:ext cx="7734300" cy="400050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210050" y="36957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短时波动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200650" y="3705225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短窗口内峰谷差超限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076700" y="4114800"/>
            <a:ext cx="7734300" cy="400050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210050" y="42100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基线偏移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200650" y="4219575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近期均值相对历史基线漂移超限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4076700" y="4629150"/>
            <a:ext cx="7734300" cy="400050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210050" y="47244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设备离线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200650" y="4733925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心跳超时，触发离线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恢复事件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381000" y="6248400"/>
            <a:ext cx="11430000" cy="609600"/>
          </a:xfrm>
          <a:custGeom>
            <a:pathLst>
              <a:path w="1200" h="6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2409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582025" y="6477000"/>
            <a:ext cx="3228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示例：「相对应变指标 135 超过阈值 120」</a:t>
            </a:r>
            <a:endParaRPr lang="zh-CN" sz="1500" b="1">
              <a:solidFill>
                <a:srgbClr val="0E3F8C"/>
              </a:solidFill>
              <a:latin typeface="Microsoft YaHei"/>
              <a:ea typeface="Microsoft YaHei"/>
            </a:endParaRP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333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SQLite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五表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全程审计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381000" y="1009650"/>
            <a:ext cx="3429000" cy="5295900"/>
          </a:xfrm>
          <a:prstGeom prst="roundRect">
            <a:avLst>
              <a:gd name="adj" fmla="val 2778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3095625"/>
            <a:ext cx="2971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统一数据模型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2971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C9D9EF"/>
                </a:solidFill>
                <a:latin typeface="Microsoft YaHei"/>
                <a:ea typeface="Microsoft YaHei"/>
              </a:rPr>
              <a:t>统一时间</a:t>
            </a:r>
            <a:r>
              <a:rPr lang="en-US" sz="1275">
                <a:solidFill>
                  <a:srgbClr val="C9D9EF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C9D9EF"/>
                </a:solidFill>
                <a:latin typeface="Microsoft YaHei"/>
                <a:ea typeface="Microsoft YaHei"/>
              </a:rPr>
              <a:t>设备</a:t>
            </a:r>
            <a:r>
              <a:rPr lang="en-US" sz="1275">
                <a:solidFill>
                  <a:srgbClr val="C9D9EF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C9D9EF"/>
                </a:solidFill>
                <a:latin typeface="Microsoft YaHei"/>
                <a:ea typeface="Microsoft YaHei"/>
              </a:rPr>
              <a:t>状态字段，参数变更全程留痕，历史可筛选、可导出</a:t>
            </a:r>
            <a:r>
              <a:rPr lang="en-US" sz="1275">
                <a:solidFill>
                  <a:srgbClr val="C9D9EF"/>
                </a:solidFill>
                <a:latin typeface="Microsoft YaHei"/>
                <a:ea typeface="Microsoft YaHei"/>
              </a:rPr>
              <a:t xml:space="preserve"> CSV</a:t>
            </a:r>
            <a:endParaRPr/>
          </a:p>
        </p:txBody>
      </p:sp>
      <p:graphicFrame>
        <p:nvGraphicFramePr>
          <p:cNvPr id="158" name=""/>
          <p:cNvGraphicFramePr/>
          <p:nvPr/>
        </p:nvGraphicFramePr>
        <p:xfrm rot="0" flipH="0" flipV="0">
          <a:off x="4038600" y="1657350"/>
          <a:ext cx="7772400" cy="4000500"/>
        </p:xfrm>
        <a:graphic>
          <a:graphicData uri="http://schemas.openxmlformats.org/drawingml/2006/table">
            <a:tbl>
              <a:tblGrid>
                <a:gridCol w="2308869">
                  <a:extLst>
                    <a:ext uri="{9D8B030D-6E8A-4147-A177-3AD203B41FA5}">
                      <a16:colId val="1"/>
                    </a:ext>
                  </a:extLst>
                </a:gridCol>
                <a:gridCol w="3050793">
                  <a:extLst>
                    <a:ext uri="{9D8B030D-6E8A-4147-A177-3AD203B41FA5}">
                      <a16:colId val="2"/>
                    </a:ext>
                  </a:extLst>
                </a:gridCol>
                <a:gridCol w="241273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作用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samples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采样数据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实时曲线与历史比对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device_heartbeat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心跳/离线/恢复事件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设备健康度追溯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alarms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报警（规则+原因+状态）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可解释报警与处置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settings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参数设置历史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阈值/周期变更留痕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audit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操作审计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谁在何时做了什么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59" name=""/>
          <p:cNvSpPr/>
          <p:nvPr/>
        </p:nvSpPr>
        <p:spPr>
          <a:xfrm rot="0" flipH="0" flipV="0">
            <a:off x="381000" y="6477000"/>
            <a:ext cx="11430000" cy="381000"/>
          </a:xfrm>
          <a:custGeom>
            <a:pathLst>
              <a:path w="1200" h="4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5053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安全与工程化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能交付的程度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81000" y="1009650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安全防护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81000" y="1400175"/>
            <a:ext cx="6724650" cy="47625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33400" y="15335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密钥环境变量化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2095500" y="15430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账号、密码、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SECRET_KEY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.env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，不硬编码进源码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381000" y="2009775"/>
            <a:ext cx="6724650" cy="47625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33400" y="21431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统一鉴权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2095500" y="21526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所有页面与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统一登录保护，未登录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返回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401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2619375"/>
            <a:ext cx="6724650" cy="47625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33400" y="27527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写接口保护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095500" y="27622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清除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改参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确认等写操作受鉴权与校验约束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7334250" y="1009650"/>
            <a:ext cx="4476750" cy="5295900"/>
          </a:xfrm>
          <a:prstGeom prst="roundRect">
            <a:avLst>
              <a:gd name="adj" fmla="val 2128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524750" y="1200150"/>
            <a:ext cx="4095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工程化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524750" y="1590675"/>
            <a:ext cx="71437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1E4FA8"/>
                </a:solidFill>
                <a:latin typeface="Microsoft YaHei"/>
                <a:ea typeface="Microsoft YaHei"/>
              </a:rPr>
              <a:t>101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315325" y="1590675"/>
            <a:ext cx="13716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项自动化测试全绿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524750" y="2409825"/>
            <a:ext cx="40957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规则引擎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数据层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鉴权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API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设备心跳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串口链路，覆盖核心链路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524750" y="3171825"/>
            <a:ext cx="40957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524750" y="3314700"/>
            <a:ext cx="4095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依赖清单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requirements.txt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配置模板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.env.example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现场启动手册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81000" y="6477000"/>
            <a:ext cx="11430000" cy="381000"/>
          </a:xfrm>
          <a:custGeom>
            <a:pathLst>
              <a:path w="1200" h="4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硬件本地双重预警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81000" y="2486025"/>
            <a:ext cx="2190750" cy="885825"/>
          </a:xfrm>
          <a:prstGeom prst="roundRect">
            <a:avLst>
              <a:gd name="adj" fmla="val 1075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33450" y="2695575"/>
            <a:ext cx="1085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HX711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采集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43000" y="30003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压力传感器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2686050" y="2486025"/>
            <a:ext cx="2200275" cy="885825"/>
          </a:xfrm>
          <a:prstGeom prst="roundRect">
            <a:avLst>
              <a:gd name="adj" fmla="val 1075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305175" y="2695575"/>
            <a:ext cx="96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OLED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显示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362325" y="30003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实时数值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000625" y="2486025"/>
            <a:ext cx="2190750" cy="885825"/>
          </a:xfrm>
          <a:prstGeom prst="roundRect">
            <a:avLst>
              <a:gd name="adj" fmla="val 1075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524500" y="269557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LED /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蜂鸣器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695950" y="30003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本地声光预警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7305675" y="2486025"/>
            <a:ext cx="2200275" cy="885825"/>
          </a:xfrm>
          <a:prstGeom prst="roundRect">
            <a:avLst>
              <a:gd name="adj" fmla="val 1075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029575" y="26955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串口上行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77200" y="3000375"/>
            <a:ext cx="657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9620250" y="2486025"/>
            <a:ext cx="2190750" cy="885825"/>
          </a:xfrm>
          <a:prstGeom prst="roundRect">
            <a:avLst>
              <a:gd name="adj" fmla="val 10753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277475" y="269557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448925" y="3000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9EF"/>
                </a:solidFill>
                <a:latin typeface="Microsoft YaHei"/>
                <a:ea typeface="Microsoft YaHei"/>
              </a:rPr>
              <a:t>实时监测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81000" y="3562350"/>
            <a:ext cx="3705225" cy="1266825"/>
          </a:xfrm>
          <a:prstGeom prst="roundRect">
            <a:avLst>
              <a:gd name="adj" fmla="val 75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52450" y="3733800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不依赖上位机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52450" y="4029075"/>
            <a:ext cx="3362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即使电脑没启动，硬件也能本地声光报警，双重保障。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238625" y="3562350"/>
            <a:ext cx="3714750" cy="1266825"/>
          </a:xfrm>
          <a:prstGeom prst="roundRect">
            <a:avLst>
              <a:gd name="adj" fmla="val 75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410075" y="3733800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MicroPython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固件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410075" y="4029075"/>
            <a:ext cx="33718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HX711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读取直接实现，不依赖第三方库，代码可控、可答辩。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8105775" y="3562350"/>
            <a:ext cx="3705225" cy="1266825"/>
          </a:xfrm>
          <a:prstGeom prst="roundRect">
            <a:avLst>
              <a:gd name="adj" fmla="val 75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277225" y="3733800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诚实标定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277225" y="4029075"/>
            <a:ext cx="3362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零点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比例系数标定，读数随载荷单调稳定，不声称工程精度。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81000" y="6477000"/>
            <a:ext cx="11430000" cy="381000"/>
          </a:xfrm>
          <a:custGeom>
            <a:pathLst>
              <a:path w="1200" h="4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381000" y="0"/>
            <a:ext cx="11430000" cy="838200"/>
          </a:xfrm>
          <a:custGeom>
            <a:pathLst>
              <a:path w="1200" h="88">
                <a:moveTo>
                  <a:pt x="0" y="86"/>
                </a:moveTo>
                <a:lnTo>
                  <a:pt x="1200" y="86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857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演示闭环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测试证据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277600" y="333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81000" y="2038350"/>
            <a:ext cx="6400800" cy="38100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14350" y="21240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19150" y="213360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施加载荷，应变值上升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381000" y="2514600"/>
            <a:ext cx="6400800" cy="38100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14350" y="26003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19150" y="260985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超过阈值，风险等级变色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81000" y="2990850"/>
            <a:ext cx="6400800" cy="38100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14350" y="3076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19150" y="308610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硬件蜂鸣器响、红灯亮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81000" y="3467100"/>
            <a:ext cx="640080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14350" y="35528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19150" y="356235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Web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弹出可解释报警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81000" y="3943350"/>
            <a:ext cx="6400800" cy="38100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14350" y="40290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19150" y="403860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点击「确认处理」闭环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381000" y="4419600"/>
            <a:ext cx="6400800" cy="38100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14350" y="45053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19150" y="451485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历史时间线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统计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381000" y="4895850"/>
            <a:ext cx="6400800" cy="38100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14350" y="4981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⑦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19150" y="499110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拔线，如实显示「设备离线」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7010400" y="2228850"/>
            <a:ext cx="4800600" cy="1362075"/>
          </a:xfrm>
          <a:prstGeom prst="roundRect">
            <a:avLst>
              <a:gd name="adj" fmla="val 699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200900" y="2419350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自动化测试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项全绿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200900" y="2771775"/>
            <a:ext cx="4419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规则引擎（含防刷屏、等级分级）·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数据层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鉴权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API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端到端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设备心跳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串口链路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010400" y="3724275"/>
            <a:ext cx="4800600" cy="1362075"/>
          </a:xfrm>
          <a:prstGeom prst="roundRect">
            <a:avLst>
              <a:gd name="adj" fmla="val 699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200900" y="3914775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冒烟测试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200900" y="4267200"/>
            <a:ext cx="4419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登录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302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大屏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200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未登录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401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数据快照含设备健康度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381000" y="6477000"/>
            <a:ext cx="11430000" cy="381000"/>
          </a:xfrm>
          <a:custGeom>
            <a:pathLst>
              <a:path w="1200" h="4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桥体卫士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桥梁结构健康监测缩尺原型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38225" y="17526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257300" y="3905250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9D9EF"/>
                </a:solidFill>
                <a:latin typeface="Microsoft YaHei"/>
                <a:ea typeface="Microsoft YaHei"/>
              </a:rPr>
              <a:t>个可证明的创新点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191000" y="12668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610100" y="1257300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双模式数据源抽象，一键切换可兜底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191000" y="161925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610100" y="1609725"/>
            <a:ext cx="2695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类可解释规则，每条报警带原因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191000" y="19716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610100" y="1962150"/>
            <a:ext cx="205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边沿触发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滞回，不刷屏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191000" y="232410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610100" y="2314575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设备健康度模型，断线如实离线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191000" y="26765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610100" y="2667000"/>
            <a:ext cx="243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设备离线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恢复事件，处置闭环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191000" y="302895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610100" y="3019425"/>
            <a:ext cx="1943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SQLite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五表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全程审计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191000" y="33813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610100" y="337185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历史动态阈值，三端一致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191000" y="373380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610100" y="3724275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硬件本地双重预警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191000" y="40862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610100" y="40767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离线可用，不依赖网络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191000" y="443865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610100" y="4429125"/>
            <a:ext cx="1895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101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项测试的完整工程化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81000" y="5905500"/>
            <a:ext cx="11430000" cy="952500"/>
          </a:xfrm>
          <a:custGeom>
            <a:pathLst>
              <a:path w="1200" h="10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3D5B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629150" y="6096000"/>
            <a:ext cx="2933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FFFFFF"/>
                </a:solidFill>
                <a:latin typeface="Microsoft YaHei"/>
                <a:ea typeface="Microsoft YaHei"/>
              </a:rPr>
              <a:t>说得出口，必拿得出证据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381500" y="6496050"/>
            <a:ext cx="3438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EF"/>
                </a:solidFill>
                <a:latin typeface="Microsoft YaHei"/>
                <a:ea typeface="Microsoft YaHei"/>
              </a:rPr>
              <a:t>感谢各位评委</a:t>
            </a:r>
            <a:r>
              <a:rPr lang="en-US" sz="1200">
                <a:solidFill>
                  <a:srgbClr val="C9D9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C9D9EF"/>
                </a:solidFill>
                <a:latin typeface="Microsoft YaHei"/>
                <a:ea typeface="Microsoft YaHei"/>
              </a:rPr>
              <a:t>展望：</a:t>
            </a:r>
            <a:r>
              <a:rPr lang="en-US" sz="1200">
                <a:solidFill>
                  <a:srgbClr val="C9D9EF"/>
                </a:solidFill>
                <a:latin typeface="Microsoft YaHei"/>
                <a:ea typeface="Microsoft YaHei"/>
              </a:rPr>
              <a:t xml:space="preserve">HTTP </a:t>
            </a:r>
            <a:r>
              <a:rPr lang="zh-CN" sz="1200">
                <a:solidFill>
                  <a:srgbClr val="C9D9EF"/>
                </a:solidFill>
                <a:latin typeface="Microsoft YaHei"/>
                <a:ea typeface="Microsoft YaHei"/>
              </a:rPr>
              <a:t>备份通道</a:t>
            </a:r>
            <a:r>
              <a:rPr lang="en-US" sz="1200">
                <a:solidFill>
                  <a:srgbClr val="C9D9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C9D9EF"/>
                </a:solidFill>
                <a:latin typeface="Microsoft YaHei"/>
                <a:ea typeface="Microsoft YaHei"/>
              </a:rPr>
              <a:t>多测点扩展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2026-09-28T15:23:16Z</dcterms:created>
  <dcterms:modified xsi:type="dcterms:W3CDTF">2026-09-28T15:23:16Z</dcterms:modified>
</cp:coreProperties>
</file>