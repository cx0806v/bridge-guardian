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2.xml" ContentType="application/vnd.openxmlformats-officedocument.presentationml.slide+xml"/>
  <Override PartName="/ppt/slides/slide10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presProps.xml" ContentType="application/vnd.openxmlformats-officedocument.presentationml.presProp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Relationship Id="rId2" Type="http://schemas.openxmlformats.org/officeDocument/2006/relationships/extended-properties" Target="docProps/app.xml" 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1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2" Type="http://schemas.openxmlformats.org/officeDocument/2006/relationships/slide" Target="slides/slide2.xml" /><Relationship Id="rId0" Type="http://schemas.openxmlformats.org/officeDocument/2006/relationships/slideMaster" Target="slideMasters/slideMaster1.xml" /><Relationship Id="rId11" Type="http://schemas.openxmlformats.org/officeDocument/2006/relationships/notesMaster" Target="notesMasters/notesMaster1.xml" /><Relationship Id="rId1" Type="http://schemas.openxmlformats.org/officeDocument/2006/relationships/slide" Target="slides/slide1.xml" /><Relationship Id="rId13" Type="http://schemas.openxmlformats.org/officeDocument/2006/relationships/tableStyles" Target="tableStyles.xml" /><Relationship Id="rId10" Type="http://schemas.openxmlformats.org/officeDocument/2006/relationships/slide" Target="slides/slide10.xml" /><Relationship Id="rId6" Type="http://schemas.openxmlformats.org/officeDocument/2006/relationships/slide" Target="slides/slide6.xml" /><Relationship Id="rId12" Type="http://schemas.openxmlformats.org/officeDocument/2006/relationships/presProps" Target="presProps.xml" /><Relationship Id="rId14" Type="http://schemas.openxmlformats.org/officeDocument/2006/relationships/viewProps" Target="viewProps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381000" y="0"/>
            <a:ext cx="11430000" cy="17145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762000" y="600075"/>
            <a:ext cx="106680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 spc="225">
                <a:solidFill>
                  <a:srgbClr val="DCE7F5"/>
                </a:solidFill>
                <a:latin typeface="Microsoft YaHei"/>
                <a:ea typeface="Microsoft YaHei"/>
              </a:rPr>
              <a:t>桥梁结构健康监测</a:t>
            </a:r>
            <a:r>
              <a:rPr lang="en-US" sz="1650" b="1" spc="225">
                <a:solidFill>
                  <a:srgbClr val="DCE7F5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650" b="1" spc="225">
                <a:solidFill>
                  <a:srgbClr val="DCE7F5"/>
                </a:solidFill>
                <a:latin typeface="Microsoft YaHei"/>
                <a:ea typeface="Microsoft YaHei"/>
              </a:rPr>
              <a:t>缩尺原型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762000" y="952500"/>
            <a:ext cx="10668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9DB8DC"/>
                </a:solidFill>
                <a:latin typeface="Microsoft YaHei"/>
                <a:ea typeface="Microsoft YaHei"/>
              </a:rPr>
              <a:t>职业院校技能竞赛</a:t>
            </a:r>
            <a:r>
              <a:rPr lang="en-US" sz="1125">
                <a:solidFill>
                  <a:srgbClr val="9DB8D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9DB8DC"/>
                </a:solidFill>
                <a:latin typeface="Microsoft YaHei"/>
                <a:ea typeface="Microsoft YaHei"/>
              </a:rPr>
              <a:t>软件技术专业</a:t>
            </a:r>
            <a:r>
              <a:rPr lang="en-US" sz="1125">
                <a:solidFill>
                  <a:srgbClr val="9DB8DC"/>
                </a:solidFill>
                <a:latin typeface="Microsoft YaHei"/>
                <a:ea typeface="Microsoft YaHei"/>
              </a:rPr>
              <a:t xml:space="preserve"> · 4 </a:t>
            </a:r>
            <a:r>
              <a:rPr lang="zh-CN" sz="1125">
                <a:solidFill>
                  <a:srgbClr val="9DB8DC"/>
                </a:solidFill>
                <a:latin typeface="Microsoft YaHei"/>
                <a:ea typeface="Microsoft YaHei"/>
              </a:rPr>
              <a:t>人团队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4191000" y="2781300"/>
            <a:ext cx="3810000" cy="10572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6900" b="1" spc="600">
                <a:solidFill>
                  <a:srgbClr val="0E3F8C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5238750" y="4010025"/>
            <a:ext cx="1714500" cy="38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4914900" y="4257675"/>
            <a:ext cx="2371725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spc="150">
                <a:solidFill>
                  <a:srgbClr val="4A5568"/>
                </a:solidFill>
                <a:latin typeface="Microsoft YaHei"/>
                <a:ea typeface="Microsoft YaHei"/>
              </a:rPr>
              <a:t>Bridge Guardian</a:t>
            </a:r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4324350" y="4733925"/>
            <a:ext cx="3543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采集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判断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存储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展示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处置</a:t>
            </a:r>
            <a:r>
              <a:rPr lang="en-US" sz="1350">
                <a:solidFill>
                  <a:srgbClr val="8B97A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350">
                <a:solidFill>
                  <a:srgbClr val="8B97A8"/>
                </a:solidFill>
                <a:latin typeface="Microsoft YaHei"/>
                <a:ea typeface="Microsoft YaHei"/>
              </a:rPr>
              <a:t>全闭环监测原型</a:t>
            </a:r>
            <a:endParaRPr/>
          </a:p>
        </p:txBody>
      </p:sp>
      <p:sp>
        <p:nvSpPr>
          <p:cNvPr id="10" name=""/>
          <p:cNvSpPr/>
          <p:nvPr/>
        </p:nvSpPr>
        <p:spPr>
          <a:xfrm rot="0" flipH="0" flipV="0">
            <a:off x="381000" y="6000750"/>
            <a:ext cx="11430000" cy="857250"/>
          </a:xfrm>
          <a:custGeom>
            <a:pathLst>
              <a:path w="1200" h="9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381000" y="6343650"/>
            <a:ext cx="17430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答辩时间：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年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月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10591800" y="6343650"/>
            <a:ext cx="1219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汇报人：团队组长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4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42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48101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为什么做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桥梁受载监测的痛点</a:t>
            </a:r>
            <a:endParaRPr/>
          </a:p>
        </p:txBody>
      </p:sp>
      <p:sp>
        <p:nvSpPr>
          <p:cNvPr id="44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45" name=""/>
          <p:cNvSpPr/>
          <p:nvPr/>
        </p:nvSpPr>
        <p:spPr>
          <a:xfrm rot="0" flipH="0" flipV="0">
            <a:off x="381000" y="1009650"/>
            <a:ext cx="5943600" cy="2390775"/>
          </a:xfrm>
          <a:prstGeom prst="roundRect">
            <a:avLst>
              <a:gd name="adj" fmla="val 3984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590550" y="1847850"/>
            <a:ext cx="5524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D9534F"/>
                </a:solidFill>
                <a:latin typeface="Microsoft YaHei"/>
                <a:ea typeface="Microsoft YaHei"/>
              </a:rPr>
              <a:t>真实桥梁监测的难点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590550" y="2190750"/>
            <a:ext cx="5524500" cy="3714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设备昂贵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部署困难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依赖工程级标定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难以在教学与演示中复现</a:t>
            </a:r>
            <a:endParaRPr/>
          </a:p>
        </p:txBody>
      </p:sp>
      <p:sp>
        <p:nvSpPr>
          <p:cNvPr id="48" name=""/>
          <p:cNvSpPr/>
          <p:nvPr/>
        </p:nvSpPr>
        <p:spPr>
          <a:xfrm rot="0" flipH="0" flipV="0">
            <a:off x="381000" y="3552825"/>
            <a:ext cx="5943600" cy="2752725"/>
          </a:xfrm>
          <a:prstGeom prst="roundRect">
            <a:avLst>
              <a:gd name="adj" fmla="val 3460"/>
            </a:avLst>
          </a:prstGeom>
          <a:solidFill>
            <a:srgbClr val="E8EFF8"/>
          </a:solidFill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590550" y="4391025"/>
            <a:ext cx="55245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我们的方案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590550" y="4733925"/>
            <a:ext cx="5524500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低成本缩尺原型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完整演示「采集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判断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存储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展示</a:t>
            </a:r>
            <a:r>
              <a:rPr lang="en-US" sz="150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500">
                <a:solidFill>
                  <a:srgbClr val="1A2230"/>
                </a:solidFill>
                <a:latin typeface="Microsoft YaHei"/>
                <a:ea typeface="Microsoft YaHei"/>
              </a:rPr>
              <a:t>处置」全闭环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6591300" y="2476500"/>
            <a:ext cx="5219700" cy="4191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800" b="1">
                <a:solidFill>
                  <a:srgbClr val="0E3F8C"/>
                </a:solidFill>
                <a:latin typeface="Microsoft YaHei"/>
                <a:ea typeface="Microsoft YaHei"/>
              </a:rPr>
              <a:t>桥梁长期受载，结构健康关乎安全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6591300" y="3048000"/>
            <a:ext cx="5219700" cy="11715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我们用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ESP32 +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压力传感器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Flask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平台，做一个可运行、可解释、可追溯的受载监测原型，把整条监测链路完整呈现出来。</a:t>
            </a:r>
            <a:endParaRPr/>
          </a:p>
        </p:txBody>
      </p:sp>
      <p:sp>
        <p:nvSpPr>
          <p:cNvPr id="53" name=""/>
          <p:cNvSpPr/>
          <p:nvPr/>
        </p:nvSpPr>
        <p:spPr>
          <a:xfrm rot="0" flipH="0" flipV="0">
            <a:off x="6591300" y="4410075"/>
            <a:ext cx="5219700" cy="438150"/>
          </a:xfrm>
          <a:prstGeom prst="roundRect">
            <a:avLst>
              <a:gd name="adj" fmla="val 17391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6743700" y="4524375"/>
            <a:ext cx="49149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定位：缩尺模型受载变化模拟（诚实边界，不夸大精度）</a:t>
            </a:r>
            <a:endParaRPr/>
          </a:p>
        </p:txBody>
      </p:sp>
      <p:sp>
        <p:nvSpPr>
          <p:cNvPr id="55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02 / 10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60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8957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六层架构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数据源可插拔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381000" y="1009650"/>
            <a:ext cx="3200400" cy="5295900"/>
          </a:xfrm>
          <a:prstGeom prst="roundRect">
            <a:avLst>
              <a:gd name="adj" fmla="val 2976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09600" y="3086100"/>
            <a:ext cx="27432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FFFFFF"/>
                </a:solidFill>
                <a:latin typeface="Microsoft YaHei"/>
                <a:ea typeface="Microsoft YaHei"/>
              </a:rPr>
              <a:t>六层解耦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09600" y="3562350"/>
            <a:ext cx="27432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C9D9EF"/>
                </a:solidFill>
                <a:latin typeface="Microsoft YaHei"/>
                <a:ea typeface="Microsoft YaHei"/>
              </a:rPr>
              <a:t>核心是采集层</a:t>
            </a:r>
            <a:r>
              <a:rPr lang="en-US" sz="1350">
                <a:solidFill>
                  <a:srgbClr val="C9D9EF"/>
                </a:solidFill>
                <a:latin typeface="Microsoft YaHei"/>
                <a:ea typeface="Microsoft YaHei"/>
              </a:rPr>
              <a:t xml:space="preserve"> DataSource </a:t>
            </a:r>
            <a:r>
              <a:rPr lang="zh-CN" sz="1350">
                <a:solidFill>
                  <a:srgbClr val="C9D9EF"/>
                </a:solidFill>
                <a:latin typeface="Microsoft YaHei"/>
                <a:ea typeface="Microsoft YaHei"/>
              </a:rPr>
              <a:t>抽象：换数据源，不改上层逻辑</a:t>
            </a:r>
            <a:endParaRPr/>
          </a:p>
        </p:txBody>
      </p:sp>
      <p:sp>
        <p:nvSpPr>
          <p:cNvPr id="66" name=""/>
          <p:cNvSpPr/>
          <p:nvPr/>
        </p:nvSpPr>
        <p:spPr>
          <a:xfrm rot="0" flipH="0" flipV="0">
            <a:off x="3810000" y="100965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67" name="" descr="{&quot;isTemplate&quot;:true,&quot;type&quot;:&quot;text&quot;}"/>
          <p:cNvSpPr txBox="1"/>
          <p:nvPr/>
        </p:nvSpPr>
        <p:spPr>
          <a:xfrm rot="0" flipH="0" flipV="0">
            <a:off x="3962400" y="110490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68" name="" descr="{&quot;isTemplate&quot;:true,&quot;type&quot;:&quot;text&quot;}"/>
          <p:cNvSpPr txBox="1"/>
          <p:nvPr/>
        </p:nvSpPr>
        <p:spPr>
          <a:xfrm rot="0" flipH="0" flipV="0">
            <a:off x="4495800" y="11049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硬件层</a:t>
            </a:r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5505450" y="112395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ESP32 + HX711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传感器</a:t>
            </a:r>
            <a:endParaRPr/>
          </a:p>
        </p:txBody>
      </p:sp>
      <p:sp>
        <p:nvSpPr>
          <p:cNvPr id="70" name=""/>
          <p:cNvSpPr/>
          <p:nvPr/>
        </p:nvSpPr>
        <p:spPr>
          <a:xfrm rot="0" flipH="0" flipV="0">
            <a:off x="3810000" y="198120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3962400" y="20764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4495800" y="20764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采集层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5505450" y="209550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DataSource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抽象（模拟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串口）</a:t>
            </a:r>
            <a:endParaRPr/>
          </a:p>
        </p:txBody>
      </p:sp>
      <p:sp>
        <p:nvSpPr>
          <p:cNvPr id="74" name=""/>
          <p:cNvSpPr/>
          <p:nvPr/>
        </p:nvSpPr>
        <p:spPr>
          <a:xfrm rot="0" flipH="0" flipV="0">
            <a:off x="3810000" y="2962275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3962400" y="3057525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4495800" y="305752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规则引擎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5505450" y="3076575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类可解释规则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3810000" y="3933825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962400" y="4029075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4495800" y="4029075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数据层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5505450" y="4048125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五表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CSV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导出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3810000" y="491490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962400" y="501015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4495800" y="501015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服务层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5505450" y="502920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Flask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统一鉴权</a:t>
            </a:r>
            <a:endParaRPr/>
          </a:p>
        </p:txBody>
      </p:sp>
      <p:sp>
        <p:nvSpPr>
          <p:cNvPr id="86" name=""/>
          <p:cNvSpPr/>
          <p:nvPr/>
        </p:nvSpPr>
        <p:spPr>
          <a:xfrm rot="0" flipH="0" flipV="0">
            <a:off x="3810000" y="5886450"/>
            <a:ext cx="8001000" cy="419100"/>
          </a:xfrm>
          <a:prstGeom prst="roundRect">
            <a:avLst>
              <a:gd name="adj" fmla="val 18182"/>
            </a:avLst>
          </a:prstGeom>
          <a:solidFill>
            <a:srgbClr val="F7F9FC"/>
          </a:solidFill>
          <a:ln/>
        </p:spPr>
        <p:txBody>
          <a:bodyPr/>
          <a:p>
            <a:pPr/>
            <a:endParaRPr/>
          </a:p>
        </p:txBody>
      </p:sp>
      <p:sp>
        <p:nvSpPr>
          <p:cNvPr id="87" name="" descr="{&quot;isTemplate&quot;:true,&quot;type&quot;:&quot;text&quot;}"/>
          <p:cNvSpPr txBox="1"/>
          <p:nvPr/>
        </p:nvSpPr>
        <p:spPr>
          <a:xfrm rot="0" flipH="0" flipV="0">
            <a:off x="3962400" y="5981700"/>
            <a:ext cx="381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E4FA8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4495800" y="5981700"/>
            <a:ext cx="8572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展示层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5505450" y="6000750"/>
            <a:ext cx="61531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实时大屏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历史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设置</a:t>
            </a:r>
            <a:endParaRPr/>
          </a:p>
        </p:txBody>
      </p:sp>
      <p:sp>
        <p:nvSpPr>
          <p:cNvPr id="90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03 / 10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9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95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6766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双模式数据源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断线不造假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98" name=""/>
          <p:cNvSpPr/>
          <p:nvPr/>
        </p:nvSpPr>
        <p:spPr>
          <a:xfrm rot="0" flipH="0" flipV="0">
            <a:off x="381000" y="1009650"/>
            <a:ext cx="6724650" cy="438150"/>
          </a:xfrm>
          <a:prstGeom prst="roundRect">
            <a:avLst>
              <a:gd name="adj" fmla="val 17391"/>
            </a:avLst>
          </a:prstGeom>
          <a:solidFill>
            <a:srgbClr val="F0F5FC"/>
          </a:solidFill>
          <a:ln/>
        </p:spPr>
        <p:txBody>
          <a:bodyPr/>
          <a:p>
            <a:pPr/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533400" y="1123950"/>
            <a:ext cx="1257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E4FA8"/>
                </a:solidFill>
                <a:latin typeface="Microsoft YaHei"/>
                <a:ea typeface="Microsoft YaHei"/>
              </a:rPr>
              <a:t>DATA_SOURCE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1905000" y="1123950"/>
            <a:ext cx="2400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环境变量一键切换，无需改代码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381000" y="1581150"/>
            <a:ext cx="6724650" cy="2295525"/>
          </a:xfrm>
          <a:prstGeom prst="roundRect">
            <a:avLst>
              <a:gd name="adj" fmla="val 414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552450" y="1752600"/>
            <a:ext cx="6381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模拟模式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552450" y="2076450"/>
            <a:ext cx="638175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内置模拟器生成数据，用于开发、测试与现场兜底，大屏明确标注「数据源：模拟」。</a:t>
            </a:r>
            <a:endParaRPr/>
          </a:p>
        </p:txBody>
      </p:sp>
      <p:sp>
        <p:nvSpPr>
          <p:cNvPr id="104" name=""/>
          <p:cNvSpPr/>
          <p:nvPr/>
        </p:nvSpPr>
        <p:spPr>
          <a:xfrm rot="0" flipH="0" flipV="0">
            <a:off x="381000" y="4010025"/>
            <a:ext cx="6724650" cy="2295525"/>
          </a:xfrm>
          <a:prstGeom prst="roundRect">
            <a:avLst>
              <a:gd name="adj" fmla="val 4149"/>
            </a:avLst>
          </a:prstGeom>
          <a:solidFill>
            <a:srgbClr val="F7F9FC"/>
          </a:solidFill>
          <a:ln w="12700">
            <a:solidFill>
              <a:srgbClr val="3D7BD9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05" name="" descr="{&quot;isTemplate&quot;:true,&quot;type&quot;:&quot;text&quot;}"/>
          <p:cNvSpPr txBox="1"/>
          <p:nvPr/>
        </p:nvSpPr>
        <p:spPr>
          <a:xfrm rot="0" flipH="0" flipV="0">
            <a:off x="552450" y="4181475"/>
            <a:ext cx="6381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真实串口模式</a:t>
            </a:r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552450" y="4505325"/>
            <a:ext cx="6381750" cy="31432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USB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串口直连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ESP32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，离线可用、可验证；大屏标注「数据源：串口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(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真实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)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」。</a:t>
            </a:r>
            <a:endParaRPr/>
          </a:p>
        </p:txBody>
      </p:sp>
      <p:sp>
        <p:nvSpPr>
          <p:cNvPr id="107" name=""/>
          <p:cNvSpPr/>
          <p:nvPr/>
        </p:nvSpPr>
        <p:spPr>
          <a:xfrm rot="0" flipH="0" flipV="0">
            <a:off x="7334250" y="1009650"/>
            <a:ext cx="4476750" cy="5295900"/>
          </a:xfrm>
          <a:prstGeom prst="roundRect">
            <a:avLst>
              <a:gd name="adj" fmla="val 2128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7524750" y="1200150"/>
            <a:ext cx="40957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设备健康度三要素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7524750" y="1600200"/>
            <a:ext cx="95250" cy="9525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7715250" y="1543050"/>
            <a:ext cx="80962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心跳时间戳</a:t>
            </a:r>
            <a:endParaRPr/>
          </a:p>
        </p:txBody>
      </p:sp>
      <p:sp>
        <p:nvSpPr>
          <p:cNvPr id="111" name=""/>
          <p:cNvSpPr/>
          <p:nvPr/>
        </p:nvSpPr>
        <p:spPr>
          <a:xfrm rot="0" flipH="0" flipV="0">
            <a:off x="7524750" y="1914525"/>
            <a:ext cx="95250" cy="95250"/>
          </a:xfrm>
          <a:prstGeom prst="roundRect">
            <a:avLst>
              <a:gd name="adj" fmla="val 50000"/>
            </a:avLst>
          </a:prstGeom>
          <a:solidFill>
            <a:srgbClr val="3D7BD9"/>
          </a:solidFill>
          <a:ln/>
        </p:spPr>
        <p:txBody>
          <a:bodyPr/>
          <a:p>
            <a:pPr/>
            <a:endParaRPr/>
          </a:p>
        </p:txBody>
      </p:sp>
      <p:sp>
        <p:nvSpPr>
          <p:cNvPr id="112" name="" descr="{&quot;isTemplate&quot;:true,&quot;type&quot;:&quot;text&quot;}"/>
          <p:cNvSpPr txBox="1"/>
          <p:nvPr/>
        </p:nvSpPr>
        <p:spPr>
          <a:xfrm rot="0" flipH="0" flipV="0">
            <a:off x="7715250" y="1857375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连续超时计数</a:t>
            </a:r>
            <a:endParaRPr/>
          </a:p>
        </p:txBody>
      </p:sp>
      <p:sp>
        <p:nvSpPr>
          <p:cNvPr id="113" name=""/>
          <p:cNvSpPr/>
          <p:nvPr/>
        </p:nvSpPr>
        <p:spPr>
          <a:xfrm rot="0" flipH="0" flipV="0">
            <a:off x="7524750" y="2228850"/>
            <a:ext cx="95250" cy="9525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>
            <a:pPr/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7715250" y="2171700"/>
            <a:ext cx="9715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最近错误原因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524750" y="2581275"/>
            <a:ext cx="4095750" cy="504825"/>
          </a:xfrm>
          <a:prstGeom prst="roundRect">
            <a:avLst>
              <a:gd name="adj" fmla="val 15094"/>
            </a:avLst>
          </a:prstGeom>
          <a:solidFill>
            <a:srgbClr val="FFFFFF"/>
          </a:solidFill>
          <a:ln w="12700">
            <a:solidFill>
              <a:srgbClr val="D9534F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7658100" y="2695575"/>
            <a:ext cx="3829050" cy="276225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200" b="1">
                <a:solidFill>
                  <a:srgbClr val="D9534F"/>
                </a:solidFill>
                <a:latin typeface="Microsoft YaHei"/>
                <a:ea typeface="Microsoft YaHei"/>
              </a:rPr>
              <a:t>断线立即显示「设备离线」，绝不伪造在线或数据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04 / 10</a:t>
            </a:r>
            <a:endParaRPr/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22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63055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类可解释规则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每条报警说清「为什么」</a:t>
            </a:r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25" name=""/>
          <p:cNvSpPr/>
          <p:nvPr/>
        </p:nvSpPr>
        <p:spPr>
          <a:xfrm rot="0" flipH="0" flipV="0">
            <a:off x="381000" y="1009650"/>
            <a:ext cx="3429000" cy="5067300"/>
          </a:xfrm>
          <a:prstGeom prst="roundRect">
            <a:avLst>
              <a:gd name="adj" fmla="val 333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1657350" y="2371725"/>
            <a:ext cx="885825" cy="1714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0" b="1">
                <a:solidFill>
                  <a:srgbClr val="0E3F8C"/>
                </a:solidFill>
                <a:latin typeface="Microsoft YaHei"/>
                <a:ea typeface="Microsoft YaHei"/>
              </a:rPr>
              <a:t>6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1409700" y="4162425"/>
            <a:ext cx="13716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800" b="1">
                <a:solidFill>
                  <a:srgbClr val="1E4FA8"/>
                </a:solidFill>
                <a:latin typeface="Microsoft YaHei"/>
                <a:ea typeface="Microsoft YaHei"/>
              </a:rPr>
              <a:t>类可解释规则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247775" y="4533900"/>
            <a:ext cx="17049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边沿触发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滞回</a:t>
            </a:r>
            <a:r>
              <a:rPr lang="en-US" sz="1200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4A5568"/>
                </a:solidFill>
                <a:latin typeface="Microsoft YaHei"/>
                <a:ea typeface="Microsoft YaHei"/>
              </a:rPr>
              <a:t>不刷屏</a:t>
            </a:r>
            <a:endParaRPr/>
          </a:p>
        </p:txBody>
      </p:sp>
      <p:sp>
        <p:nvSpPr>
          <p:cNvPr id="129" name=""/>
          <p:cNvSpPr/>
          <p:nvPr/>
        </p:nvSpPr>
        <p:spPr>
          <a:xfrm rot="0" flipH="0" flipV="0">
            <a:off x="4076700" y="205740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4210050" y="21526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阈值超限</a:t>
            </a:r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200650" y="216217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应变值超过阈值，分级：预警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报警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严重</a:t>
            </a:r>
            <a:endParaRPr/>
          </a:p>
        </p:txBody>
      </p:sp>
      <p:sp>
        <p:nvSpPr>
          <p:cNvPr id="132" name=""/>
          <p:cNvSpPr/>
          <p:nvPr/>
        </p:nvSpPr>
        <p:spPr>
          <a:xfrm rot="0" flipH="0" flipV="0">
            <a:off x="4076700" y="257175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210050" y="26670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变化率突变</a:t>
            </a:r>
            <a:endParaRPr/>
          </a:p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5200650" y="267652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相邻采样周期变化量超限</a:t>
            </a:r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4076700" y="308610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6" name="" descr="{&quot;isTemplate&quot;:true,&quot;type&quot;:&quot;text&quot;}"/>
          <p:cNvSpPr txBox="1"/>
          <p:nvPr/>
        </p:nvSpPr>
        <p:spPr>
          <a:xfrm rot="0" flipH="0" flipV="0">
            <a:off x="4210050" y="31813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持续超限</a:t>
            </a:r>
            <a:endParaRPr/>
          </a:p>
        </p:txBody>
      </p:sp>
      <p:sp>
        <p:nvSpPr>
          <p:cNvPr id="137" name="" descr="{&quot;isTemplate&quot;:true,&quot;type&quot;:&quot;text&quot;}"/>
          <p:cNvSpPr txBox="1"/>
          <p:nvPr/>
        </p:nvSpPr>
        <p:spPr>
          <a:xfrm rot="0" flipH="0" flipV="0">
            <a:off x="5200650" y="319087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连续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点超限（区别于单点毛刺）</a:t>
            </a:r>
            <a:endParaRPr/>
          </a:p>
        </p:txBody>
      </p:sp>
      <p:sp>
        <p:nvSpPr>
          <p:cNvPr id="138" name=""/>
          <p:cNvSpPr/>
          <p:nvPr/>
        </p:nvSpPr>
        <p:spPr>
          <a:xfrm rot="0" flipH="0" flipV="0">
            <a:off x="4076700" y="360045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210050" y="36957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短时波动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5200650" y="370522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短窗口内峰谷差超限</a:t>
            </a:r>
            <a:endParaRPr/>
          </a:p>
        </p:txBody>
      </p:sp>
      <p:sp>
        <p:nvSpPr>
          <p:cNvPr id="141" name=""/>
          <p:cNvSpPr/>
          <p:nvPr/>
        </p:nvSpPr>
        <p:spPr>
          <a:xfrm rot="0" flipH="0" flipV="0">
            <a:off x="4076700" y="411480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2" name="" descr="{&quot;isTemplate&quot;:true,&quot;type&quot;:&quot;text&quot;}"/>
          <p:cNvSpPr txBox="1"/>
          <p:nvPr/>
        </p:nvSpPr>
        <p:spPr>
          <a:xfrm rot="0" flipH="0" flipV="0">
            <a:off x="4210050" y="421005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基线偏移</a:t>
            </a:r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5200650" y="421957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近期均值相对历史基线漂移超限</a:t>
            </a:r>
            <a:endParaRPr/>
          </a:p>
        </p:txBody>
      </p:sp>
      <p:sp>
        <p:nvSpPr>
          <p:cNvPr id="144" name=""/>
          <p:cNvSpPr/>
          <p:nvPr/>
        </p:nvSpPr>
        <p:spPr>
          <a:xfrm rot="0" flipH="0" flipV="0">
            <a:off x="4076700" y="4629150"/>
            <a:ext cx="7734300" cy="400050"/>
          </a:xfrm>
          <a:prstGeom prst="roundRect">
            <a:avLst>
              <a:gd name="adj" fmla="val 19048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10050" y="47244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设备离线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5200650" y="4733925"/>
            <a:ext cx="64770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心跳超时，触发离线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恢复事件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381000" y="6248400"/>
            <a:ext cx="11430000" cy="609600"/>
          </a:xfrm>
          <a:custGeom>
            <a:pathLst>
              <a:path w="1200" h="64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381000" y="6477000"/>
            <a:ext cx="24098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8582025" y="6477000"/>
            <a:ext cx="32289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示例：「相对应变指标 135 超过阈值 120」</a:t>
            </a:r>
            <a:endParaRPr lang="zh-CN" sz="1500" b="1">
              <a:solidFill>
                <a:srgbClr val="0E3F8C"/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333375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五表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全程审计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55" name=""/>
          <p:cNvSpPr/>
          <p:nvPr/>
        </p:nvSpPr>
        <p:spPr>
          <a:xfrm rot="0" flipH="0" flipV="0">
            <a:off x="381000" y="1009650"/>
            <a:ext cx="3429000" cy="5295900"/>
          </a:xfrm>
          <a:prstGeom prst="roundRect">
            <a:avLst>
              <a:gd name="adj" fmla="val 2778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609600" y="3095625"/>
            <a:ext cx="2971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统一数据模型</a:t>
            </a:r>
            <a:endParaRPr/>
          </a:p>
        </p:txBody>
      </p:sp>
      <p:sp>
        <p:nvSpPr>
          <p:cNvPr id="157" name="" descr="{&quot;isTemplate&quot;:true,&quot;type&quot;:&quot;text&quot;}"/>
          <p:cNvSpPr txBox="1"/>
          <p:nvPr/>
        </p:nvSpPr>
        <p:spPr>
          <a:xfrm rot="0" flipH="0" flipV="0">
            <a:off x="609600" y="3552825"/>
            <a:ext cx="29718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C9D9EF"/>
                </a:solidFill>
                <a:latin typeface="Microsoft YaHei"/>
                <a:ea typeface="Microsoft YaHei"/>
              </a:rPr>
              <a:t>统一时间</a:t>
            </a:r>
            <a:r>
              <a:rPr lang="en-US" sz="1275">
                <a:solidFill>
                  <a:srgbClr val="C9D9EF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C9D9EF"/>
                </a:solidFill>
                <a:latin typeface="Microsoft YaHei"/>
                <a:ea typeface="Microsoft YaHei"/>
              </a:rPr>
              <a:t>设备</a:t>
            </a:r>
            <a:r>
              <a:rPr lang="en-US" sz="1275">
                <a:solidFill>
                  <a:srgbClr val="C9D9EF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C9D9EF"/>
                </a:solidFill>
                <a:latin typeface="Microsoft YaHei"/>
                <a:ea typeface="Microsoft YaHei"/>
              </a:rPr>
              <a:t>状态字段，参数变更全程留痕，历史可筛选、可导出</a:t>
            </a:r>
            <a:r>
              <a:rPr lang="en-US" sz="1275">
                <a:solidFill>
                  <a:srgbClr val="C9D9EF"/>
                </a:solidFill>
                <a:latin typeface="Microsoft YaHei"/>
                <a:ea typeface="Microsoft YaHei"/>
              </a:rPr>
              <a:t xml:space="preserve"> CSV</a:t>
            </a:r>
            <a:endParaRPr/>
          </a:p>
        </p:txBody>
      </p:sp>
      <p:graphicFrame>
        <p:nvGraphicFramePr>
          <p:cNvPr id="158" name=""/>
          <p:cNvGraphicFramePr/>
          <p:nvPr/>
        </p:nvGraphicFramePr>
        <p:xfrm rot="0" flipH="0" flipV="0">
          <a:off x="4038600" y="1657350"/>
          <a:ext cx="7772400" cy="4000500"/>
        </p:xfrm>
        <a:graphic>
          <a:graphicData uri="http://schemas.openxmlformats.org/drawingml/2006/table">
            <a:tbl>
              <a:tblGrid>
                <a:gridCol w="2308869">
                  <a:extLst>
                    <a:ext uri="{9D8B030D-6E8A-4147-A177-3AD203B41FA5}">
                      <a16:colId val="1"/>
                    </a:ext>
                  </a:extLst>
                </a:gridCol>
                <a:gridCol w="3050793">
                  <a:extLst>
                    <a:ext uri="{9D8B030D-6E8A-4147-A177-3AD203B41FA5}">
                      <a16:colId val="2"/>
                    </a:ext>
                  </a:extLst>
                </a:gridCol>
                <a:gridCol w="241273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作用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0E3F8C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samples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采样数据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实时曲线与历史比对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device_heartbeat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心跳/离线/恢复事件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设备健康度追溯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alarms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报警（规则+原因+状态）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可解释报警与处置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settings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参数设置历史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阈值/周期变更留痕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6667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audit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操作审计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2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谁在何时做了什么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</a:tbl>
          </a:graphicData>
        </a:graphic>
      </p:graphicFrame>
      <p:sp>
        <p:nvSpPr>
          <p:cNvPr id="159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06 / 10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6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4505325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安全与工程化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能交付的程度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381000" y="1009650"/>
            <a:ext cx="67246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安全防护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81000" y="1400175"/>
            <a:ext cx="672465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9" name="" descr="{&quot;isTemplate&quot;:true,&quot;type&quot;:&quot;text&quot;}"/>
          <p:cNvSpPr txBox="1"/>
          <p:nvPr/>
        </p:nvSpPr>
        <p:spPr>
          <a:xfrm rot="0" flipH="0" flipV="0">
            <a:off x="533400" y="1533525"/>
            <a:ext cx="1428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密钥环境变量化</a:t>
            </a:r>
            <a:endParaRPr/>
          </a:p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2095500" y="154305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账号、密码、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SECRET_KEY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走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.env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，不硬编码进源码</a:t>
            </a:r>
            <a:endParaRPr/>
          </a:p>
        </p:txBody>
      </p:sp>
      <p:sp>
        <p:nvSpPr>
          <p:cNvPr id="171" name=""/>
          <p:cNvSpPr/>
          <p:nvPr/>
        </p:nvSpPr>
        <p:spPr>
          <a:xfrm rot="0" flipH="0" flipV="0">
            <a:off x="381000" y="2009775"/>
            <a:ext cx="672465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33400" y="2143125"/>
            <a:ext cx="1428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统一鉴权</a:t>
            </a:r>
            <a:endParaRPr/>
          </a:p>
        </p:txBody>
      </p:sp>
      <p:sp>
        <p:nvSpPr>
          <p:cNvPr id="173" name="" descr="{&quot;isTemplate&quot;:true,&quot;type&quot;:&quot;text&quot;}"/>
          <p:cNvSpPr txBox="1"/>
          <p:nvPr/>
        </p:nvSpPr>
        <p:spPr>
          <a:xfrm rot="0" flipH="0" flipV="0">
            <a:off x="2095500" y="215265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所有页面与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统一登录保护，未登录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返回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401</a:t>
            </a:r>
            <a:endParaRPr/>
          </a:p>
        </p:txBody>
      </p:sp>
      <p:sp>
        <p:nvSpPr>
          <p:cNvPr id="174" name=""/>
          <p:cNvSpPr/>
          <p:nvPr/>
        </p:nvSpPr>
        <p:spPr>
          <a:xfrm rot="0" flipH="0" flipV="0">
            <a:off x="381000" y="2619375"/>
            <a:ext cx="6724650" cy="476250"/>
          </a:xfrm>
          <a:prstGeom prst="roundRect">
            <a:avLst>
              <a:gd name="adj" fmla="val 16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533400" y="2752725"/>
            <a:ext cx="1428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E4FA8"/>
                </a:solidFill>
                <a:latin typeface="Microsoft YaHei"/>
                <a:ea typeface="Microsoft YaHei"/>
              </a:rPr>
              <a:t>写接口保护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2095500" y="2762250"/>
            <a:ext cx="48577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清除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改参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确认等写操作受鉴权与校验约束</a:t>
            </a:r>
            <a:endParaRPr/>
          </a:p>
        </p:txBody>
      </p:sp>
      <p:sp>
        <p:nvSpPr>
          <p:cNvPr id="177" name=""/>
          <p:cNvSpPr/>
          <p:nvPr/>
        </p:nvSpPr>
        <p:spPr>
          <a:xfrm rot="0" flipH="0" flipV="0">
            <a:off x="7334250" y="1009650"/>
            <a:ext cx="4476750" cy="5295900"/>
          </a:xfrm>
          <a:prstGeom prst="roundRect">
            <a:avLst>
              <a:gd name="adj" fmla="val 2128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7524750" y="1200150"/>
            <a:ext cx="40957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工程化</a:t>
            </a:r>
            <a:endParaRPr/>
          </a:p>
        </p:txBody>
      </p:sp>
      <p:sp>
        <p:nvSpPr>
          <p:cNvPr id="179" name="" descr="{&quot;isTemplate&quot;:true,&quot;type&quot;:&quot;text&quot;}"/>
          <p:cNvSpPr txBox="1"/>
          <p:nvPr/>
        </p:nvSpPr>
        <p:spPr>
          <a:xfrm rot="0" flipH="0" flipV="0">
            <a:off x="7524750" y="1590675"/>
            <a:ext cx="714375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500" b="1">
                <a:solidFill>
                  <a:srgbClr val="1E4FA8"/>
                </a:solidFill>
                <a:latin typeface="Microsoft YaHei"/>
                <a:ea typeface="Microsoft YaHei"/>
              </a:rPr>
              <a:t>28</a:t>
            </a:r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315325" y="1590675"/>
            <a:ext cx="13716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项自动化测试全绿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7524750" y="2409825"/>
            <a:ext cx="40957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规则引擎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数据层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鉴权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API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设备心跳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串口链路，覆盖核心链路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7524750" y="3171825"/>
            <a:ext cx="4095750" cy="9525"/>
          </a:xfrm>
          <a:prstGeom prst="rect">
            <a:avLst/>
          </a:prstGeom>
          <a:solidFill>
            <a:srgbClr val="D6DCE5"/>
          </a:solidFill>
          <a:ln/>
        </p:spPr>
        <p:txBody>
          <a:bodyPr/>
          <a:p>
            <a:pPr/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7524750" y="3314700"/>
            <a:ext cx="40957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依赖清单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requirements.txt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配置模板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.env.example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现场启动手册</a:t>
            </a:r>
            <a:endParaRPr/>
          </a:p>
        </p:txBody>
      </p:sp>
      <p:sp>
        <p:nvSpPr>
          <p:cNvPr id="184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07 / 10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1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89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4384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硬件本地双重预警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192" name=""/>
          <p:cNvSpPr/>
          <p:nvPr/>
        </p:nvSpPr>
        <p:spPr>
          <a:xfrm rot="0" flipH="0" flipV="0">
            <a:off x="381000" y="2486025"/>
            <a:ext cx="2190750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933450" y="2695575"/>
            <a:ext cx="10858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HX711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采集</a:t>
            </a:r>
            <a:endParaRPr/>
          </a:p>
        </p:txBody>
      </p:sp>
      <p:sp>
        <p:nvSpPr>
          <p:cNvPr id="194" name="" descr="{&quot;isTemplate&quot;:true,&quot;type&quot;:&quot;text&quot;}"/>
          <p:cNvSpPr txBox="1"/>
          <p:nvPr/>
        </p:nvSpPr>
        <p:spPr>
          <a:xfrm rot="0" flipH="0" flipV="0">
            <a:off x="1143000" y="3000375"/>
            <a:ext cx="6667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压力传感器</a:t>
            </a:r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2686050" y="2486025"/>
            <a:ext cx="2200275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3305175" y="2695575"/>
            <a:ext cx="9620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OLED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显示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3362325" y="3000375"/>
            <a:ext cx="857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实时数值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状态</a:t>
            </a:r>
            <a:endParaRPr/>
          </a:p>
        </p:txBody>
      </p:sp>
      <p:sp>
        <p:nvSpPr>
          <p:cNvPr id="198" name=""/>
          <p:cNvSpPr/>
          <p:nvPr/>
        </p:nvSpPr>
        <p:spPr>
          <a:xfrm rot="0" flipH="0" flipV="0">
            <a:off x="5000625" y="2486025"/>
            <a:ext cx="2190750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5524500" y="2695575"/>
            <a:ext cx="1143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LED / </a:t>
            </a: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蜂鸣器</a:t>
            </a:r>
            <a:endParaRPr/>
          </a:p>
        </p:txBody>
      </p:sp>
      <p:sp>
        <p:nvSpPr>
          <p:cNvPr id="200" name="" descr="{&quot;isTemplate&quot;:true,&quot;type&quot;:&quot;text&quot;}"/>
          <p:cNvSpPr txBox="1"/>
          <p:nvPr/>
        </p:nvSpPr>
        <p:spPr>
          <a:xfrm rot="0" flipH="0" flipV="0">
            <a:off x="5695950" y="3000375"/>
            <a:ext cx="8001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本地声光预警</a:t>
            </a:r>
            <a:endParaRPr/>
          </a:p>
        </p:txBody>
      </p:sp>
      <p:sp>
        <p:nvSpPr>
          <p:cNvPr id="201" name=""/>
          <p:cNvSpPr/>
          <p:nvPr/>
        </p:nvSpPr>
        <p:spPr>
          <a:xfrm rot="0" flipH="0" flipV="0">
            <a:off x="7305675" y="2486025"/>
            <a:ext cx="2200275" cy="885825"/>
          </a:xfrm>
          <a:prstGeom prst="roundRect">
            <a:avLst>
              <a:gd name="adj" fmla="val 1075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8029575" y="2695575"/>
            <a:ext cx="762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0E3F8C"/>
                </a:solidFill>
                <a:latin typeface="Microsoft YaHei"/>
                <a:ea typeface="Microsoft YaHei"/>
              </a:rPr>
              <a:t>串口上行</a:t>
            </a:r>
            <a:endParaRPr/>
          </a:p>
        </p:txBody>
      </p:sp>
      <p:sp>
        <p:nvSpPr>
          <p:cNvPr id="203" name="" descr="{&quot;isTemplate&quot;:true,&quot;type&quot;:&quot;text&quot;}"/>
          <p:cNvSpPr txBox="1"/>
          <p:nvPr/>
        </p:nvSpPr>
        <p:spPr>
          <a:xfrm rot="0" flipH="0" flipV="0">
            <a:off x="8077200" y="3000375"/>
            <a:ext cx="6572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JSON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数据</a:t>
            </a:r>
            <a:endParaRPr/>
          </a:p>
        </p:txBody>
      </p:sp>
      <p:sp>
        <p:nvSpPr>
          <p:cNvPr id="204" name=""/>
          <p:cNvSpPr/>
          <p:nvPr/>
        </p:nvSpPr>
        <p:spPr>
          <a:xfrm rot="0" flipH="0" flipV="0">
            <a:off x="9620250" y="2486025"/>
            <a:ext cx="2190750" cy="885825"/>
          </a:xfrm>
          <a:prstGeom prst="roundRect">
            <a:avLst>
              <a:gd name="adj" fmla="val 10753"/>
            </a:avLst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205" name="" descr="{&quot;isTemplate&quot;:true,&quot;type&quot;:&quot;text&quot;}"/>
          <p:cNvSpPr txBox="1"/>
          <p:nvPr/>
        </p:nvSpPr>
        <p:spPr>
          <a:xfrm rot="0" flipH="0" flipV="0">
            <a:off x="10277475" y="2695575"/>
            <a:ext cx="876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Web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大屏</a:t>
            </a:r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10448925" y="3000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C9D9EF"/>
                </a:solidFill>
                <a:latin typeface="Microsoft YaHei"/>
                <a:ea typeface="Microsoft YaHei"/>
              </a:rPr>
              <a:t>实时监测</a:t>
            </a:r>
            <a:endParaRPr/>
          </a:p>
        </p:txBody>
      </p:sp>
      <p:sp>
        <p:nvSpPr>
          <p:cNvPr id="207" name=""/>
          <p:cNvSpPr/>
          <p:nvPr/>
        </p:nvSpPr>
        <p:spPr>
          <a:xfrm rot="0" flipH="0" flipV="0">
            <a:off x="381000" y="3562350"/>
            <a:ext cx="3705225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552450" y="3733800"/>
            <a:ext cx="3362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不依赖上位机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552450" y="4029075"/>
            <a:ext cx="33623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即使电脑没启动，硬件也能本地声光报警，双重保障。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4238625" y="3562350"/>
            <a:ext cx="3714750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4410075" y="3733800"/>
            <a:ext cx="33718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MicroPython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固件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4410075" y="4029075"/>
            <a:ext cx="337185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HX711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读取直接实现，不依赖第三方库，代码可控、可答辩。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8105775" y="3562350"/>
            <a:ext cx="3705225" cy="1266825"/>
          </a:xfrm>
          <a:prstGeom prst="roundRect">
            <a:avLst>
              <a:gd name="adj" fmla="val 7519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8277225" y="3733800"/>
            <a:ext cx="33623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诚实标定</a:t>
            </a:r>
            <a:endParaRPr/>
          </a:p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8277225" y="4029075"/>
            <a:ext cx="3362325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零点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比例系数标定，读数随载荷单调稳定，不声称工程精度。</a:t>
            </a:r>
            <a:endParaRPr/>
          </a:p>
        </p:txBody>
      </p:sp>
      <p:sp>
        <p:nvSpPr>
          <p:cNvPr id="216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08 / 10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21" name=""/>
          <p:cNvSpPr/>
          <p:nvPr/>
        </p:nvSpPr>
        <p:spPr>
          <a:xfrm rot="0" flipH="0" flipV="0">
            <a:off x="381000" y="0"/>
            <a:ext cx="11430000" cy="838200"/>
          </a:xfrm>
          <a:custGeom>
            <a:pathLst>
              <a:path w="1200" h="88">
                <a:moveTo>
                  <a:pt x="0" y="86"/>
                </a:moveTo>
                <a:lnTo>
                  <a:pt x="1200" y="86"/>
                </a:lnTo>
                <a:lnTo>
                  <a:pt x="1200" y="88"/>
                </a:lnTo>
                <a:lnTo>
                  <a:pt x="0" y="88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>
            <a:pPr/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81000" y="228600"/>
            <a:ext cx="28575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演示闭环</a:t>
            </a:r>
            <a:r>
              <a:rPr lang="en-US" sz="240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测试证据</a:t>
            </a:r>
            <a:endParaRPr/>
          </a:p>
        </p:txBody>
      </p:sp>
      <p:sp>
        <p:nvSpPr>
          <p:cNvPr id="223" name="" descr="{&quot;isTemplate&quot;:true,&quot;type&quot;:&quot;text&quot;}"/>
          <p:cNvSpPr txBox="1"/>
          <p:nvPr/>
        </p:nvSpPr>
        <p:spPr>
          <a:xfrm rot="0" flipH="0" flipV="0">
            <a:off x="11277600" y="333375"/>
            <a:ext cx="5334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endParaRPr/>
          </a:p>
        </p:txBody>
      </p:sp>
      <p:sp>
        <p:nvSpPr>
          <p:cNvPr id="224" name=""/>
          <p:cNvSpPr/>
          <p:nvPr/>
        </p:nvSpPr>
        <p:spPr>
          <a:xfrm rot="0" flipH="0" flipV="0">
            <a:off x="381000" y="20383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514350" y="21240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①</a:t>
            </a:r>
            <a:endParaRPr/>
          </a:p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819150" y="21336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施加载荷，应变值上升</a:t>
            </a:r>
            <a:endParaRPr/>
          </a:p>
        </p:txBody>
      </p:sp>
      <p:sp>
        <p:nvSpPr>
          <p:cNvPr id="227" name=""/>
          <p:cNvSpPr/>
          <p:nvPr/>
        </p:nvSpPr>
        <p:spPr>
          <a:xfrm rot="0" flipH="0" flipV="0">
            <a:off x="381000" y="251460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8" name="" descr="{&quot;isTemplate&quot;:true,&quot;type&quot;:&quot;text&quot;}"/>
          <p:cNvSpPr txBox="1"/>
          <p:nvPr/>
        </p:nvSpPr>
        <p:spPr>
          <a:xfrm rot="0" flipH="0" flipV="0">
            <a:off x="514350" y="26003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②</a:t>
            </a:r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819150" y="260985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超过阈值，风险等级变色</a:t>
            </a:r>
            <a:endParaRPr/>
          </a:p>
        </p:txBody>
      </p:sp>
      <p:sp>
        <p:nvSpPr>
          <p:cNvPr id="230" name=""/>
          <p:cNvSpPr/>
          <p:nvPr/>
        </p:nvSpPr>
        <p:spPr>
          <a:xfrm rot="0" flipH="0" flipV="0">
            <a:off x="381000" y="29908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514350" y="30765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③</a:t>
            </a:r>
            <a:endParaRPr/>
          </a:p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819150" y="30861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硬件蜂鸣器响、红灯亮</a:t>
            </a:r>
            <a:endParaRPr/>
          </a:p>
        </p:txBody>
      </p:sp>
      <p:sp>
        <p:nvSpPr>
          <p:cNvPr id="233" name=""/>
          <p:cNvSpPr/>
          <p:nvPr/>
        </p:nvSpPr>
        <p:spPr>
          <a:xfrm rot="0" flipH="0" flipV="0">
            <a:off x="381000" y="346710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E8EFF8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514350" y="35528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④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19150" y="356235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Web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弹出可解释报警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381000" y="39433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514350" y="40290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⑤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819150" y="40386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点击「确认处理」闭环</a:t>
            </a:r>
            <a:endParaRPr/>
          </a:p>
        </p:txBody>
      </p:sp>
      <p:sp>
        <p:nvSpPr>
          <p:cNvPr id="239" name=""/>
          <p:cNvSpPr/>
          <p:nvPr/>
        </p:nvSpPr>
        <p:spPr>
          <a:xfrm rot="0" flipH="0" flipV="0">
            <a:off x="381000" y="441960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0" name="" descr="{&quot;isTemplate&quot;:true,&quot;type&quot;:&quot;text&quot;}"/>
          <p:cNvSpPr txBox="1"/>
          <p:nvPr/>
        </p:nvSpPr>
        <p:spPr>
          <a:xfrm rot="0" flipH="0" flipV="0">
            <a:off x="514350" y="450532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⑥</a:t>
            </a:r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819150" y="451485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历史时间线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统计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导出</a:t>
            </a:r>
            <a:endParaRPr/>
          </a:p>
        </p:txBody>
      </p:sp>
      <p:sp>
        <p:nvSpPr>
          <p:cNvPr id="242" name=""/>
          <p:cNvSpPr/>
          <p:nvPr/>
        </p:nvSpPr>
        <p:spPr>
          <a:xfrm rot="0" flipH="0" flipV="0">
            <a:off x="381000" y="4895850"/>
            <a:ext cx="6400800" cy="381000"/>
          </a:xfrm>
          <a:prstGeom prst="roundRect">
            <a:avLst>
              <a:gd name="adj" fmla="val 20000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514350" y="4981575"/>
            <a:ext cx="1714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350" b="1">
                <a:solidFill>
                  <a:srgbClr val="1E4FA8"/>
                </a:solidFill>
                <a:latin typeface="Microsoft YaHei"/>
                <a:ea typeface="Microsoft YaHei"/>
              </a:rPr>
              <a:t>⑦</a:t>
            </a:r>
            <a:endParaRPr/>
          </a:p>
        </p:txBody>
      </p:sp>
      <p:sp>
        <p:nvSpPr>
          <p:cNvPr id="244" name="" descr="{&quot;isTemplate&quot;:true,&quot;type&quot;:&quot;text&quot;}"/>
          <p:cNvSpPr txBox="1"/>
          <p:nvPr/>
        </p:nvSpPr>
        <p:spPr>
          <a:xfrm rot="0" flipH="0" flipV="0">
            <a:off x="819150" y="4991100"/>
            <a:ext cx="58293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拔线，如实显示「设备离线」</a:t>
            </a:r>
            <a:endParaRPr/>
          </a:p>
        </p:txBody>
      </p:sp>
      <p:sp>
        <p:nvSpPr>
          <p:cNvPr id="245" name=""/>
          <p:cNvSpPr/>
          <p:nvPr/>
        </p:nvSpPr>
        <p:spPr>
          <a:xfrm rot="0" flipH="0" flipV="0">
            <a:off x="7010400" y="2228850"/>
            <a:ext cx="4800600" cy="1362075"/>
          </a:xfrm>
          <a:prstGeom prst="roundRect">
            <a:avLst>
              <a:gd name="adj" fmla="val 6993"/>
            </a:avLst>
          </a:prstGeom>
          <a:solidFill>
            <a:srgbClr val="E8EFF8"/>
          </a:solidFill>
          <a:ln/>
        </p:spPr>
        <p:txBody>
          <a:bodyPr/>
          <a:p>
            <a:pPr/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7200900" y="2419350"/>
            <a:ext cx="4419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自动化测试</a:t>
            </a:r>
            <a:r>
              <a:rPr lang="en-US" sz="16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28 </a:t>
            </a: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项全绿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7200900" y="2771775"/>
            <a:ext cx="44196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规则引擎（含防刷屏、等级分级）·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数据层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鉴权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API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端到端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设备心跳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串口链路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7010400" y="3724275"/>
            <a:ext cx="4800600" cy="1362075"/>
          </a:xfrm>
          <a:prstGeom prst="roundRect">
            <a:avLst>
              <a:gd name="adj" fmla="val 6993"/>
            </a:avLst>
          </a:prstGeom>
          <a:solidFill>
            <a:srgbClr val="F7F9FC"/>
          </a:solidFill>
          <a:ln w="12700">
            <a:solidFill>
              <a:srgbClr val="D6DCE5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7200900" y="3914775"/>
            <a:ext cx="44196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0E3F8C"/>
                </a:solidFill>
                <a:latin typeface="Microsoft YaHei"/>
                <a:ea typeface="Microsoft YaHei"/>
              </a:rPr>
              <a:t>冒烟测试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7200900" y="4267200"/>
            <a:ext cx="44196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登录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302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大屏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200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未登录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 xml:space="preserve"> API 401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数据快照含设备健康度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381000" y="6477000"/>
            <a:ext cx="11430000" cy="381000"/>
          </a:xfrm>
          <a:custGeom>
            <a:pathLst>
              <a:path w="1200" h="4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>
            <a:pPr/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81000" y="6591300"/>
            <a:ext cx="22479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桥体卫士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桥梁结构健康监测缩尺原型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11334750" y="6591300"/>
            <a:ext cx="4762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1E4FA8"/>
                </a:solidFill>
                <a:latin typeface="Microsoft YaHei"/>
                <a:ea typeface="Microsoft YaHei"/>
              </a:rPr>
              <a:t>09 / 10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1038225" y="1752600"/>
            <a:ext cx="2124075" cy="2057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16" name="" descr="{&quot;isTemplate&quot;:true,&quot;type&quot;:&quot;text&quot;}"/>
          <p:cNvSpPr txBox="1"/>
          <p:nvPr/>
        </p:nvSpPr>
        <p:spPr>
          <a:xfrm rot="0" flipH="0" flipV="0">
            <a:off x="1257300" y="3905250"/>
            <a:ext cx="16764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C9D9EF"/>
                </a:solidFill>
                <a:latin typeface="Microsoft YaHei"/>
                <a:ea typeface="Microsoft YaHei"/>
              </a:rPr>
              <a:t>个可证明的创新点</a:t>
            </a:r>
            <a:endParaRPr/>
          </a:p>
        </p:txBody>
      </p:sp>
      <p:sp>
        <p:nvSpPr>
          <p:cNvPr id="17" name="" descr="{&quot;isTemplate&quot;:true,&quot;type&quot;:&quot;text&quot;}"/>
          <p:cNvSpPr txBox="1"/>
          <p:nvPr/>
        </p:nvSpPr>
        <p:spPr>
          <a:xfrm rot="0" flipH="0" flipV="0">
            <a:off x="4191000" y="126682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4610100" y="1257300"/>
            <a:ext cx="28956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双模式数据源抽象，一键切换可兜底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4191000" y="16192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4610100" y="1609725"/>
            <a:ext cx="26955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6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类可解释规则，每条报警带原因</a:t>
            </a:r>
            <a:endParaRPr/>
          </a:p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4191000" y="197167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4610100" y="1962150"/>
            <a:ext cx="2057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边沿触发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滞回，不刷屏</a:t>
            </a:r>
            <a:endParaRPr/>
          </a:p>
        </p:txBody>
      </p:sp>
      <p:sp>
        <p:nvSpPr>
          <p:cNvPr id="23" name="" descr="{&quot;isTemplate&quot;:true,&quot;type&quot;:&quot;text&quot;}"/>
          <p:cNvSpPr txBox="1"/>
          <p:nvPr/>
        </p:nvSpPr>
        <p:spPr>
          <a:xfrm rot="0" flipH="0" flipV="0">
            <a:off x="4191000" y="232410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4610100" y="2314575"/>
            <a:ext cx="25336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设备健康度模型，断线如实离线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191000" y="267652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4610100" y="2667000"/>
            <a:ext cx="2438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设备离线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>/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恢复事件，处置闭环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4191000" y="30289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6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4610100" y="3019425"/>
            <a:ext cx="1943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SQLite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五表</a:t>
            </a: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全程审计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4191000" y="338137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7</a:t>
            </a:r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4610100" y="3371850"/>
            <a:ext cx="199072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历史动态阈值，三端一致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4191000" y="373380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8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4610100" y="3724275"/>
            <a:ext cx="14478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硬件本地双重预警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4191000" y="4086225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9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4610100" y="4076700"/>
            <a:ext cx="18097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离线可用，不依赖网络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4191000" y="4438650"/>
            <a:ext cx="2857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FFC107"/>
                </a:solidFill>
                <a:latin typeface="Microsoft YaHei"/>
                <a:ea typeface="Microsoft YaHei"/>
              </a:rPr>
              <a:t>10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4610100" y="4429125"/>
            <a:ext cx="1895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>
                <a:solidFill>
                  <a:srgbClr val="FFFFFF"/>
                </a:solidFill>
                <a:latin typeface="Microsoft YaHei"/>
                <a:ea typeface="Microsoft YaHei"/>
              </a:rPr>
              <a:t xml:space="preserve">28 </a:t>
            </a:r>
            <a:r>
              <a:rPr lang="zh-CN" sz="1425">
                <a:solidFill>
                  <a:srgbClr val="FFFFFF"/>
                </a:solidFill>
                <a:latin typeface="Microsoft YaHei"/>
                <a:ea typeface="Microsoft YaHei"/>
              </a:rPr>
              <a:t>项测试的完整工程化</a:t>
            </a:r>
            <a:endParaRPr/>
          </a:p>
        </p:txBody>
      </p:sp>
      <p:sp>
        <p:nvSpPr>
          <p:cNvPr id="37" name=""/>
          <p:cNvSpPr/>
          <p:nvPr/>
        </p:nvSpPr>
        <p:spPr>
          <a:xfrm rot="0" flipH="0" flipV="0">
            <a:off x="381000" y="5905500"/>
            <a:ext cx="11430000" cy="952500"/>
          </a:xfrm>
          <a:custGeom>
            <a:pathLst>
              <a:path w="1200" h="100">
                <a:moveTo>
                  <a:pt x="0" y="0"/>
                </a:moveTo>
                <a:lnTo>
                  <a:pt x="1200" y="0"/>
                </a:lnTo>
                <a:lnTo>
                  <a:pt x="1200" y="1"/>
                </a:lnTo>
                <a:lnTo>
                  <a:pt x="0" y="1"/>
                </a:lnTo>
                <a:close/>
              </a:path>
            </a:pathLst>
          </a:custGeom>
          <a:solidFill>
            <a:srgbClr val="3D5B8C"/>
          </a:solidFill>
          <a:ln/>
        </p:spPr>
        <p:txBody>
          <a:bodyPr/>
          <a:p>
            <a:pPr/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4629150" y="6096000"/>
            <a:ext cx="29337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950" b="1" spc="150">
                <a:solidFill>
                  <a:srgbClr val="FFFFFF"/>
                </a:solidFill>
                <a:latin typeface="Microsoft YaHei"/>
                <a:ea typeface="Microsoft YaHei"/>
              </a:rPr>
              <a:t>说得出口，必拿得出证据</a:t>
            </a:r>
            <a:endParaRPr/>
          </a:p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4381500" y="6496050"/>
            <a:ext cx="34385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感谢各位评委</a:t>
            </a:r>
            <a:r>
              <a:rPr lang="en-US" sz="1200">
                <a:solidFill>
                  <a:srgbClr val="C9D9E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展望：</a:t>
            </a:r>
            <a:r>
              <a:rPr lang="en-US" sz="1200">
                <a:solidFill>
                  <a:srgbClr val="C9D9EF"/>
                </a:solidFill>
                <a:latin typeface="Microsoft YaHei"/>
                <a:ea typeface="Microsoft YaHei"/>
              </a:rPr>
              <a:t xml:space="preserve">HTTP </a:t>
            </a: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备份通道</a:t>
            </a:r>
            <a:r>
              <a:rPr lang="en-US" sz="1200">
                <a:solidFill>
                  <a:srgbClr val="C9D9E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00">
                <a:solidFill>
                  <a:srgbClr val="C9D9EF"/>
                </a:solidFill>
                <a:latin typeface="Microsoft YaHei"/>
                <a:ea typeface="Microsoft YaHei"/>
              </a:rPr>
              <a:t>多测点扩展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2026-09-28T15:23:16Z</dcterms:created>
  <dcterms:modified xsi:type="dcterms:W3CDTF">2026-09-28T15:23:16Z</dcterms:modified>
</cp:coreProperties>
</file>