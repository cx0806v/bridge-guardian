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3" Type="http://schemas.openxmlformats.org/officeDocument/2006/relationships/tableStyles" Target="tableStyles.xml" /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Relationship Id="rId10" Type="http://schemas.openxmlformats.org/officeDocument/2006/relationships/slide" Target="slides/slide10.xml" /><Relationship Id="rId12" Type="http://schemas.openxmlformats.org/officeDocument/2006/relationships/presProps" Target="presProps.xml" /><Relationship Id="rId11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background: '#FFFFFF', width: '1280px', height: '720px', padding: '0 40px' }}&gt;&#10;  &lt;Box style={{ flexDirection: 'column', width: '100%', height: '100%' }}&gt;&#10;    &lt;Box style={{ height: 180, background: '#0E3F8C', flexDirection: 'column', justifyContent: 'center', padding: '0 40px' }}&gt;&#10;      &lt;Text style={{ fontSize: 22, color: '#DCE7F5', letterSpacing: 3, fontWeight: 'bold' }}&gt;桥梁结构健康监测 · 缩尺原型&lt;/Text&gt;&#10;      &lt;Text style={{ fontSize: 15, color: '#9DB8DC', marginTop: 10 }}&gt;职业院校技能竞赛 · 软件技术专业 · 4 人团队&lt;/Text&gt;&#10;    &lt;/Box&gt;&#10;    &lt;Box style={{ flex: 1, flexDirection: 'column', justifyContent: 'center', alignItems: 'center' }}&gt;&#10;      &lt;Text style={{ fontSize: 92, fontWeight: 'bold', color: '#0E3F8C', letterSpacing: 8 }}&gt;桥体卫士&lt;/Text&gt;&#10;      &lt;Box style={{ width: 180, height: 4, background: '#1E4FA8', marginTop: 18, borderRadius: 2 }} /&gt;&#10;      &lt;Text style={{ fontSize: 28, color: '#4A5568', marginTop: 22, letterSpacing: 2 }}&gt;Bridge Guardian&lt;/Text&gt;&#10;      &lt;Text style={{ fontSize: 18, color: '#8B97A8', marginTop: 16 }}&gt;采集 · 判断 · 存储 · 展示 · 处置 全闭环监测原型&lt;/Text&gt;&#10;    &lt;/Box&gt;&#10;    &lt;Box style={{ height: 90, flexDirection: 'row', justifyContent: 'space-between', alignItems: 'center', borderTop: '1px solid #E5E7EB' }}&gt;&#10;      &lt;Text style={{ fontSize: 16, color: '#4A5568' }}&gt;答辩时间：2026 年 11 月&lt;/Text&gt;&#10;      &lt;Text style={{ fontSize: 16, color: '#4A5568' }}&gt;汇报人：团队组长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381000" y="0"/>
            <a:ext cx="11430000" cy="17145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62000" y="600075"/>
            <a:ext cx="1066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 spc="225">
                <a:solidFill>
                  <a:srgbClr val="DCE7F5"/>
                </a:solidFill>
                <a:latin typeface="Microsoft YaHei"/>
                <a:ea typeface="Microsoft YaHei"/>
              </a:rPr>
              <a:t>桥梁结构健康监测</a:t>
            </a:r>
            <a:r>
              <a:rPr lang="en-US" sz="1650" b="1" spc="225">
                <a:solidFill>
                  <a:srgbClr val="DCE7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650" b="1" spc="225">
                <a:solidFill>
                  <a:srgbClr val="DCE7F5"/>
                </a:solidFill>
                <a:latin typeface="Microsoft YaHei"/>
                <a:ea typeface="Microsoft YaHei"/>
              </a:rPr>
              <a:t>缩尺原型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952500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DB8DC"/>
                </a:solidFill>
                <a:latin typeface="Microsoft YaHei"/>
                <a:ea typeface="Microsoft YaHei"/>
              </a:rPr>
              <a:t>职业院校技能竞赛</a:t>
            </a:r>
            <a:r>
              <a:rPr lang="en-US" sz="1125">
                <a:solidFill>
                  <a:srgbClr val="9DB8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9DB8DC"/>
                </a:solidFill>
                <a:latin typeface="Microsoft YaHei"/>
                <a:ea typeface="Microsoft YaHei"/>
              </a:rPr>
              <a:t>软件技术专业</a:t>
            </a:r>
            <a:r>
              <a:rPr lang="en-US" sz="1125">
                <a:solidFill>
                  <a:srgbClr val="9DB8DC"/>
                </a:solidFill>
                <a:latin typeface="Microsoft YaHei"/>
                <a:ea typeface="Microsoft YaHei"/>
              </a:rPr>
              <a:t xml:space="preserve"> · 4 </a:t>
            </a:r>
            <a:r>
              <a:rPr lang="zh-CN" sz="1125">
                <a:solidFill>
                  <a:srgbClr val="9DB8DC"/>
                </a:solidFill>
                <a:latin typeface="Microsoft YaHei"/>
                <a:ea typeface="Microsoft YaHei"/>
              </a:rPr>
              <a:t>人团队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4191000" y="2781300"/>
            <a:ext cx="3810000" cy="10572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6900" b="1" spc="600">
                <a:solidFill>
                  <a:srgbClr val="0E3F8C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5238750" y="4010025"/>
            <a:ext cx="1714500" cy="38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4914900" y="4257675"/>
            <a:ext cx="23717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spc="150">
                <a:solidFill>
                  <a:srgbClr val="4A5568"/>
                </a:solidFill>
                <a:latin typeface="Microsoft YaHei"/>
                <a:ea typeface="Microsoft YaHei"/>
              </a:rPr>
              <a:t>Bridge Guardian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4324350" y="4733925"/>
            <a:ext cx="3543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采集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判断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存储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展示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处置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全闭环监测原型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381000" y="6000750"/>
            <a:ext cx="11430000" cy="857250"/>
          </a:xfrm>
          <a:custGeom>
            <a:pathLst>
              <a:path w="1200" h="9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381000" y="6343650"/>
            <a:ext cx="1743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答辩时间：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年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0591800" y="6343650"/>
            <a:ext cx="1219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汇报人：团队组长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40" name="" descr="&lt;Slide style={{ background: '#FFFFFF', width: '1280px', height: '720px', padding: '0 40px' }}&gt;&#10;  &lt;Box style={{ flexDirection: 'column', width: '100%', height: '100%' }}&gt;&#10;    &lt;Box style={{ height: 88, flexDirection: 'row', alignItems: 'center', justifyContent: 'space-between', borderBottom: '2px solid #1E4FA8' }}&gt;&#10;      &lt;Text style={{ fontSize: 32, fontWeight: 'bold', color: '#0E3F8C' }}&gt;为什么做 —— 桥梁受载监测的痛点&lt;/Text&gt;&#10;      &lt;Text style={{ fontSize: 14, color: '#8B97A8' }}&gt;桥体卫士&lt;/Text&gt;&#10;    &lt;/Box&gt;&#10;    &lt;Box style={{ flex: 1, flexDirection: 'row', gap: 28, padding: '18px 0' }}&gt;&#10;      &lt;Box style={{ width: '52%', flexDirection: 'column', gap: 16 }}&gt;&#10;        &lt;Box style={{ flex: 1, background: '#F7F9FC', border: '1px solid #D6DCE5', borderRadius: 10, padding: 22, flexDirection: 'column', justifyContent: 'center' }}&gt;&#10;          &lt;Text style={{ fontSize: 18, fontWeight: 'bold', color: '#D9534F' }}&gt;真实桥梁监测的难点&lt;/Text&gt;&#10;          &lt;Text style={{ fontSize: 20, color: '#4A5568', marginTop: 14, lineHeight: 1.6 }}&gt;设备昂贵 · 部署困难 · 依赖工程级标定 · 难以在教学与演示中复现&lt;/Text&gt;&#10;        &lt;/Box&gt;&#10;        &lt;Box style={{ flex: 1, background: '#E8EFF8', border: '1px solid #3D7BD9', borderRadius: 10, padding: 22, flexDirection: 'column', justifyContent: 'center' }}&gt;&#10;          &lt;Text style={{ fontSize: 18, fontWeight: 'bold', color: '#0E3F8C' }}&gt;我们的方案&lt;/Text&gt;&#10;          &lt;Text style={{ fontSize: 20, color: '#1A2230', marginTop: 14, lineHeight: 1.6 }}&gt;低成本缩尺原型 · 完整演示「采集 → 判断 → 存储 → 展示 → 处置」全闭环&lt;/Text&gt;&#10;        &lt;/Box&gt;&#10;      &lt;/Box&gt;&#10;      &lt;Box style={{ flex: 1, flexDirection: 'column', justifyContent: 'center' }}&gt;&#10;        &lt;Text style={{ fontSize: 24, fontWeight: 'bold', color: '#0E3F8C', lineHeight: 1.5 }}&gt;桥梁长期受载，结构健康关乎安全&lt;/Text&gt;&#10;        &lt;Text style={{ fontSize: 20, color: '#4A5568', marginTop: 16, lineHeight: 1.7 }}&gt;我们用 ESP32 + 压力传感器 + Flask 平台，做一个可运行、可解释、可追溯的受载监测原型，把整条监测链路完整呈现出来。&lt;/Text&gt;&#10;        &lt;Box style={{ marginTop: 20, padding: '12px 16px', background: '#F0F5FC', borderRadius: 8 }}&gt;&#10;          &lt;Text style={{ fontSize: 18, color: '#1E4FA8', fontWeight: 'bold' }}&gt;定位：缩尺模型受载变化模拟（诚实边界，不夸大精度）&lt;/Text&gt;&#10;        &lt;/Box&gt;&#10;      &lt;/Box&gt;&#10;    &lt;/Box&gt;&#10;    &lt;Box style={{ height: 40, flexDirection: 'row', justifyContent: 'space-between', alignItems: 'center', borderTop: '1px solid #E5E7EB' }}&gt;&#10;      &lt;Text style={{ fontSize: 14, color: '#8B97A8' }}&gt;桥体卫士 · 桥梁结构健康监测缩尺原型&lt;/Text&gt;&#10;      &lt;Text style={{ fontSize: 14, color: '#1E4FA8', fontWeight: 'bold' }}&gt;02 / 10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48101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为什么做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桥梁受载监测的痛点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381000" y="1009650"/>
            <a:ext cx="5943600" cy="2390775"/>
          </a:xfrm>
          <a:prstGeom prst="roundRect">
            <a:avLst>
              <a:gd name="adj" fmla="val 3984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590550" y="1847850"/>
            <a:ext cx="5524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D9534F"/>
                </a:solidFill>
                <a:latin typeface="Microsoft YaHei"/>
                <a:ea typeface="Microsoft YaHei"/>
              </a:rPr>
              <a:t>真实桥梁监测的难点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590550" y="2190750"/>
            <a:ext cx="5524500" cy="3714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设备昂贵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部署困难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依赖工程级标定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难以在教学与演示中复现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381000" y="3552825"/>
            <a:ext cx="5943600" cy="2752725"/>
          </a:xfrm>
          <a:prstGeom prst="roundRect">
            <a:avLst>
              <a:gd name="adj" fmla="val 3460"/>
            </a:avLst>
          </a:prstGeom>
          <a:solidFill>
            <a:srgbClr val="E8EFF8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590550" y="4391025"/>
            <a:ext cx="5524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我们的方案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590550" y="4733925"/>
            <a:ext cx="5524500" cy="733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低成本缩尺原型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完整演示「采集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判断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存储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展示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处置」全闭环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591300" y="2476500"/>
            <a:ext cx="5219700" cy="4191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800" b="1">
                <a:solidFill>
                  <a:srgbClr val="0E3F8C"/>
                </a:solidFill>
                <a:latin typeface="Microsoft YaHei"/>
                <a:ea typeface="Microsoft YaHei"/>
              </a:rPr>
              <a:t>桥梁长期受载，结构健康关乎安全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591300" y="3048000"/>
            <a:ext cx="521970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我们用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ESP32 +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压力传感器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Flask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平台，做一个可运行、可解释、可追溯的受载监测原型，把整条监测链路完整呈现出来。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6591300" y="4410075"/>
            <a:ext cx="5219700" cy="438150"/>
          </a:xfrm>
          <a:prstGeom prst="roundRect">
            <a:avLst>
              <a:gd name="adj" fmla="val 173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743700" y="4524375"/>
            <a:ext cx="4914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定位：缩尺模型受载变化模拟（诚实边界，不夸大精度）</a:t>
            </a:r>
            <a:endParaRPr/>
          </a:p>
        </p:txBody>
      </p:sp>
      <p:sp>
        <p:nvSpPr>
          <p:cNvPr id="55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02 / 10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58" name="" descr="&lt;Slide style={{ background: '#FFFFFF', width: '1280px', height: '720px', padding: '0 40px' }}&gt;&#10;  &lt;Box style={{ flexDirection: 'column', width: '100%', height: '100%' }}&gt;&#10;    &lt;Box style={{ height: 88, flexDirection: 'row', alignItems: 'center', justifyContent: 'space-between', borderBottom: '2px solid #1E4FA8' }}&gt;&#10;      &lt;Text style={{ fontSize: 32, fontWeight: 'bold', color: '#0E3F8C' }}&gt;六层架构 —— 数据源可插拔&lt;/Text&gt;&#10;      &lt;Text style={{ fontSize: 14, color: '#8B97A8' }}&gt;桥体卫士&lt;/Text&gt;&#10;    &lt;/Box&gt;&#10;    &lt;Box style={{ flex: 1, flexDirection: 'row', gap: 0, padding: '18px 0' }}&gt;&#10;      &lt;Box style={{ width: '28%', background: '#0E3F8C', borderRadius: 10, padding: 24, flexDirection: 'column', justifyContent: 'center' }}&gt;&#10;        &lt;Text style={{ fontSize: 30, fontWeight: 'bold', color: '#FFFFFF' }}&gt;六层解耦&lt;/Text&gt;&#10;        &lt;Text style={{ fontSize: 18, color: '#C9D9EF', marginTop: 14, lineHeight: 1.6 }}&gt;核心是采集层 DataSource 抽象：换数据源，不改上层逻辑&lt;/Text&gt;&#10;      &lt;/Box&gt;&#10;      &lt;Box style={{ flex: 1, flexDirection: 'column', justifyContent: 'space-between', marginLeft: 24 }}&gt;&#10;        {[&#10;          { n: '01', t: '硬件层', d: 'ESP32 + HX711 + 传感器' },&#10;          { n: '02', t: '采集层', d: 'DataSource 抽象（模拟/串口）' },&#10;          { n: '03', t: '规则引擎', d: '6 类可解释规则' },&#10;          { n: '04', t: '数据层', d: 'SQLite 五表 + CSV 导出' },&#10;          { n: '05', t: '服务层', d: 'Flask + 统一鉴权' },&#10;          { n: '06', t: '展示层', d: '实时大屏 + 历史 + 设置' },&#10;        ].map((item, idx) =&gt; (&#10;          &lt;Box key={idx} style={{ flexDirection: 'row', alignItems: 'center', gap: 16, background: idx === 1 ? '#E8EFF8' : '#F7F9FC', borderRadius: 8, padding: '10px 16px' }}&gt;&#10;            &lt;Text style={{ fontSize: 20, fontWeight: 'bold', color: '#1E4FA8', width: 40 }}&gt;{item.n}&lt;/Text&gt;&#10;            &lt;Text style={{ fontSize: 20, fontWeight: 'bold', color: '#0E3F8C', width: 90 }}&gt;{item.t}&lt;/Text&gt;&#10;            &lt;Text style={{ fontSize: 17, color: '#4A5568', flex: 1 }}&gt;{item.d}&lt;/Text&gt;&#10;          &lt;/Box&gt;&#10;        ))}&#10;      &lt;/Box&gt;&#10;    &lt;/Box&gt;&#10;    &lt;Box style={{ height: 40, flexDirection: 'row', justifyContent: 'space-between', alignItems: 'center', borderTop: '1px solid #E5E7EB' }}&gt;&#10;      &lt;Text style={{ fontSize: 14, color: '#8B97A8' }}&gt;桥体卫士 · 桥梁结构健康监测缩尺原型&lt;/Text&gt;&#10;      &lt;Text style={{ fontSize: 14, color: '#1E4FA8', fontWeight: 'bold' }}&gt;03 / 10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0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8957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六层架构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数据源可插拔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381000" y="1009650"/>
            <a:ext cx="3200400" cy="5295900"/>
          </a:xfrm>
          <a:prstGeom prst="roundRect">
            <a:avLst>
              <a:gd name="adj" fmla="val 297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09600" y="3086100"/>
            <a:ext cx="27432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六层解耦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09600" y="3562350"/>
            <a:ext cx="27432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C9D9EF"/>
                </a:solidFill>
                <a:latin typeface="Microsoft YaHei"/>
                <a:ea typeface="Microsoft YaHei"/>
              </a:rPr>
              <a:t>核心是采集层</a:t>
            </a:r>
            <a:r>
              <a:rPr lang="en-US" sz="1350">
                <a:solidFill>
                  <a:srgbClr val="C9D9EF"/>
                </a:solidFill>
                <a:latin typeface="Microsoft YaHei"/>
                <a:ea typeface="Microsoft YaHei"/>
              </a:rPr>
              <a:t xml:space="preserve"> DataSource </a:t>
            </a:r>
            <a:r>
              <a:rPr lang="zh-CN" sz="1350">
                <a:solidFill>
                  <a:srgbClr val="C9D9EF"/>
                </a:solidFill>
                <a:latin typeface="Microsoft YaHei"/>
                <a:ea typeface="Microsoft YaHei"/>
              </a:rPr>
              <a:t>抽象：换数据源，不改上层逻辑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3810000" y="1009650"/>
            <a:ext cx="8001000" cy="419100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3962400" y="110490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4495800" y="110490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硬件层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5505450" y="1123950"/>
            <a:ext cx="6153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ESP32 + HX711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传感器</a:t>
            </a:r>
            <a:endParaRPr/>
          </a:p>
        </p:txBody>
      </p:sp>
      <p:sp>
        <p:nvSpPr>
          <p:cNvPr id="70" name=""/>
          <p:cNvSpPr/>
          <p:nvPr/>
        </p:nvSpPr>
        <p:spPr>
          <a:xfrm rot="0" flipH="0" flipV="0">
            <a:off x="3810000" y="1981200"/>
            <a:ext cx="8001000" cy="419100"/>
          </a:xfrm>
          <a:prstGeom prst="roundRect">
            <a:avLst>
              <a:gd name="adj" fmla="val 18182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962400" y="207645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4495800" y="207645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采集层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5505450" y="2095500"/>
            <a:ext cx="6153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DataSource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抽象（模拟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串口）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3810000" y="2962275"/>
            <a:ext cx="8001000" cy="419100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3962400" y="3057525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4495800" y="3057525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规则引擎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5505450" y="3076575"/>
            <a:ext cx="6153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类可解释规则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3810000" y="3933825"/>
            <a:ext cx="8001000" cy="419100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3962400" y="4029075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4495800" y="4029075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数据层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5505450" y="4048125"/>
            <a:ext cx="6153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SQLite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五表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CSV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导出</a:t>
            </a:r>
            <a:endParaRPr/>
          </a:p>
        </p:txBody>
      </p:sp>
      <p:sp>
        <p:nvSpPr>
          <p:cNvPr id="82" name=""/>
          <p:cNvSpPr/>
          <p:nvPr/>
        </p:nvSpPr>
        <p:spPr>
          <a:xfrm rot="0" flipH="0" flipV="0">
            <a:off x="3810000" y="4914900"/>
            <a:ext cx="8001000" cy="419100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962400" y="501015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4495800" y="501015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服务层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5505450" y="5029200"/>
            <a:ext cx="6153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Flask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统一鉴权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3810000" y="5886450"/>
            <a:ext cx="8001000" cy="419100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3962400" y="598170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4495800" y="598170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展示层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5505450" y="6000750"/>
            <a:ext cx="6153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实时大屏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历史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设置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03 / 10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93" name="" descr="&lt;Slide style={{ background: '#FFFFFF', width: '1280px', height: '720px', padding: '0 40px' }}&gt;&#10;  &lt;Box style={{ flexDirection: 'column', width: '100%', height: '100%' }}&gt;&#10;    &lt;Box style={{ height: 88, flexDirection: 'row', alignItems: 'center', justifyContent: 'space-between', borderBottom: '2px solid #1E4FA8' }}&gt;&#10;      &lt;Text style={{ fontSize: 32, fontWeight: 'bold', color: '#0E3F8C' }}&gt;双模式数据源 · 断线不造假&lt;/Text&gt;&#10;      &lt;Text style={{ fontSize: 14, color: '#8B97A8' }}&gt;桥体卫士&lt;/Text&gt;&#10;    &lt;/Box&gt;&#10;    &lt;Box style={{ flex: 1, flexDirection: 'row', gap: 24, padding: '18px 0' }}&gt;&#10;      &lt;Box style={{ flex: 1.5, flexDirection: 'column', gap: 14 }}&gt;&#10;        &lt;Box style={{ flexDirection: 'row', alignItems: 'center', gap: 12, background: '#F0F5FC', borderRadius: 8, padding: '12px 16px' }}&gt;&#10;          &lt;Text style={{ fontSize: 18, fontWeight: 'bold', color: '#1E4FA8' }}&gt;DATA_SOURCE&lt;/Text&gt;&#10;          &lt;Text style={{ fontSize: 18, color: '#4A5568' }}&gt;环境变量一键切换，无需改代码&lt;/Text&gt;&#10;        &lt;/Box&gt;&#10;        &lt;Box style={{ flex: 1, background: '#F7F9FC', border: '1px solid #D6DCE5', borderRadius: 10, padding: 18 }}&gt;&#10;          &lt;Text style={{ fontSize: 20, fontWeight: 'bold', color: '#0E3F8C' }}&gt;模拟模式&lt;/Text&gt;&#10;          &lt;Text style={{ fontSize: 17, color: '#4A5568', marginTop: 10, lineHeight: 1.6 }}&gt;内置模拟器生成数据，用于开发、测试与现场兜底，大屏明确标注「数据源：模拟」。&lt;/Text&gt;&#10;        &lt;/Box&gt;&#10;        &lt;Box style={{ flex: 1, background: '#F7F9FC', border: '1px solid #3D7BD9', borderRadius: 10, padding: 18 }}&gt;&#10;          &lt;Text style={{ fontSize: 20, fontWeight: 'bold', color: '#0E3F8C' }}&gt;真实串口模式&lt;/Text&gt;&#10;          &lt;Text style={{ fontSize: 17, color: '#4A5568', marginTop: 10, lineHeight: 1.6 }}&gt;USB 串口直连 ESP32，离线可用、可验证；大屏标注「数据源：串口(真实)」。&lt;/Text&gt;&#10;        &lt;/Box&gt;&#10;      &lt;/Box&gt;&#10;      &lt;Box style={{ flex: 1, flexDirection: 'column', gap: 12, background: '#E8EFF8', borderRadius: 10, padding: 20 }}&gt;&#10;        &lt;Text style={{ fontSize: 20, fontWeight: 'bold', color: '#0E3F8C' }}&gt;设备健康度三要素&lt;/Text&gt;&#10;        &lt;Box style={{ flexDirection: 'row', gap: 10, alignItems: 'center' }}&gt;&#10;          &lt;Box style={{ width: 10, height: 10, borderRadius: 5, background: '#1E4FA8' }} /&gt;&#10;          &lt;Text style={{ fontSize: 17, color: '#1A2230' }}&gt;心跳时间戳&lt;/Text&gt;&#10;        &lt;/Box&gt;&#10;        &lt;Box style={{ flexDirection: 'row', gap: 10, alignItems: 'center' }}&gt;&#10;          &lt;Box style={{ width: 10, height: 10, borderRadius: 5, background: '#3D7BD9' }} /&gt;&#10;          &lt;Text style={{ fontSize: 17, color: '#1A2230' }}&gt;连续超时计数&lt;/Text&gt;&#10;        &lt;/Box&gt;&#10;        &lt;Box style={{ flexDirection: 'row', gap: 10, alignItems: 'center' }}&gt;&#10;          &lt;Box style={{ width: 10, height: 10, borderRadius: 5, background: '#D9534F' }} /&gt;&#10;          &lt;Text style={{ fontSize: 17, color: '#1A2230' }}&gt;最近错误原因&lt;/Text&gt;&#10;        &lt;/Box&gt;&#10;        &lt;Box style={{ marginTop: 10, padding: '12px 14px', background: '#FFFFFF', borderRadius: 8, border: '1px solid #D9534F' }}&gt;&#10;          &lt;Text style={{ fontSize: 16, color: '#D9534F', fontWeight: 'bold', lineHeight: 1.5 }}&gt;断线立即显示「设备离线」，绝不伪造在线或数据&lt;/Text&gt;&#10;        &lt;/Box&gt;&#10;      &lt;/Box&gt;&#10;    &lt;/Box&gt;&#10;    &lt;Box style={{ height: 40, flexDirection: 'row', justifyContent: 'space-between', alignItems: 'center', borderTop: '1px solid #E5E7EB' }}&gt;&#10;      &lt;Text style={{ fontSize: 14, color: '#8B97A8' }}&gt;桥体卫士 · 桥梁结构健康监测缩尺原型&lt;/Text&gt;&#10;      &lt;Text style={{ fontSize: 14, color: '#1E4FA8', fontWeight: 'bold' }}&gt;04 / 10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5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6766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双模式数据源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断线不造假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381000" y="1009650"/>
            <a:ext cx="6724650" cy="438150"/>
          </a:xfrm>
          <a:prstGeom prst="roundRect">
            <a:avLst>
              <a:gd name="adj" fmla="val 173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533400" y="1123950"/>
            <a:ext cx="1257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DATA_SOURCE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1905000" y="1123950"/>
            <a:ext cx="2400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环境变量一键切换，无需改代码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381000" y="1581150"/>
            <a:ext cx="6724650" cy="2295525"/>
          </a:xfrm>
          <a:prstGeom prst="roundRect">
            <a:avLst>
              <a:gd name="adj" fmla="val 414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552450" y="1752600"/>
            <a:ext cx="6381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模拟模式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552450" y="2076450"/>
            <a:ext cx="638175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内置模拟器生成数据，用于开发、测试与现场兜底，大屏明确标注「数据源：模拟」。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381000" y="4010025"/>
            <a:ext cx="6724650" cy="2295525"/>
          </a:xfrm>
          <a:prstGeom prst="roundRect">
            <a:avLst>
              <a:gd name="adj" fmla="val 4149"/>
            </a:avLst>
          </a:prstGeom>
          <a:solidFill>
            <a:srgbClr val="F7F9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552450" y="4181475"/>
            <a:ext cx="6381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真实串口模式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552450" y="4505325"/>
            <a:ext cx="638175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USB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串口直连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ESP32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，离线可用、可验证；大屏标注「数据源：串口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(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真实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)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」。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7334250" y="1009650"/>
            <a:ext cx="4476750" cy="5295900"/>
          </a:xfrm>
          <a:prstGeom prst="roundRect">
            <a:avLst>
              <a:gd name="adj" fmla="val 212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7524750" y="1200150"/>
            <a:ext cx="4095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设备健康度三要素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7524750" y="16002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715250" y="1543050"/>
            <a:ext cx="809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心跳时间戳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7524750" y="191452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7715250" y="1857375"/>
            <a:ext cx="971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连续超时计数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7524750" y="22288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7715250" y="2171700"/>
            <a:ext cx="971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最近错误原因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7524750" y="2581275"/>
            <a:ext cx="4095750" cy="504825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7658100" y="2695575"/>
            <a:ext cx="38290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 b="1">
                <a:solidFill>
                  <a:srgbClr val="D9534F"/>
                </a:solidFill>
                <a:latin typeface="Microsoft YaHei"/>
                <a:ea typeface="Microsoft YaHei"/>
              </a:rPr>
              <a:t>断线立即显示「设备离线」，绝不伪造在线或数据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10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20" name="" descr="&lt;Slide style={{ background: '#FFFFFF', width: '1280px', height: '720px', padding: '0 40px' }}&gt;&#10;  &lt;Box style={{ flexDirection: 'column', width: '100%', height: '100%' }}&gt;&#10;    &lt;Box style={{ height: 88, flexDirection: 'row', alignItems: 'center', justifyContent: 'space-between', borderBottom: '2px solid #1E4FA8' }}&gt;&#10;      &lt;Text style={{ fontSize: 32, fontWeight: 'bold', color: '#0E3F8C' }}&gt;6 类可解释规则 —— 每条报警说清「为什么」&lt;/Text&gt;&#10;      &lt;Text style={{ fontSize: 14, color: '#8B97A8' }}&gt;桥体卫士&lt;/Text&gt;&#10;    &lt;/Box&gt;&#10;    &lt;Box style={{ flex: 1, flexDirection: 'row', gap: 28, padding: '18px 0' }}&gt;&#10;      &lt;Box style={{ width: '30%', flexDirection: 'column', justifyContent: 'center', alignItems: 'center', background: '#E8EFF8', borderRadius: 12 }}&gt;&#10;        &lt;Text style={{ fontSize: 150, fontWeight: 'bold', color: '#0E3F8C', lineHeight: 1 }}&gt;6&lt;/Text&gt;&#10;        &lt;Text style={{ fontSize: 24, fontWeight: 'bold', color: '#1E4FA8', marginTop: 8 }}&gt;类可解释规则&lt;/Text&gt;&#10;        &lt;Text style={{ fontSize: 16, color: '#4A5568', marginTop: 10 }}&gt;边沿触发 + 滞回 · 不刷屏&lt;/Text&gt;&#10;      &lt;/Box&gt;&#10;      &lt;Box style={{ flex: 1, flexDirection: 'column', justifyContent: 'center', gap: 12 }}&gt;&#10;        {[&#10;          { t: '阈值超限', d: '应变值超过阈值，分级：预警/报警/严重' },&#10;          { t: '变化率突变', d: '相邻采样周期变化量超限' },&#10;          { t: '持续超限', d: '连续 N 点超限（区别于单点毛刺）' },&#10;          { t: '短时波动', d: '短窗口内峰谷差超限' },&#10;          { t: '基线偏移', d: '近期均值相对历史基线漂移超限' },&#10;          { t: '设备离线', d: '心跳超时，触发离线/恢复事件' },&#10;        ].map((item, idx) =&gt; (&#10;          &lt;Box key={idx} style={{ flexDirection: 'row', alignItems: 'center', gap: 14, background: '#F7F9FC', border: '1px solid #D6DCE5', borderRadius: 8, padding: '10px 14px' }}&gt;&#10;            &lt;Text style={{ fontSize: 18, fontWeight: 'bold', color: '#1E4FA8', width: 90 }}&gt;{item.t}&lt;/Text&gt;&#10;            &lt;Text style={{ fontSize: 17, color: '#4A5568', flex: 1 }}&gt;{item.d}&lt;/Text&gt;&#10;          &lt;/Box&gt;&#10;        ))}&#10;      &lt;/Box&gt;&#10;    &lt;/Box&gt;&#10;    &lt;Box style={{ height: 64, flexDirection: 'row', justifyContent: 'space-between', alignItems: 'center', borderTop: '1px solid #E5E7EB' }}&gt;&#10;      &lt;Text style={{ fontSize: 15, color: '#8B97A8' }}&gt;桥体卫士 · 桥梁结构健康监测缩尺原型&lt;/Text&gt;&#10;      &lt;Text style={{ fontSize: 15, color: '#0E3F8C', fontWeight: 'bold' }}&gt;示例：「应变值 135.00 με 超过阈值 120.00 με」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63055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类可解释规则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每条报警说清「为什么」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381000" y="1009650"/>
            <a:ext cx="3429000" cy="5067300"/>
          </a:xfrm>
          <a:prstGeom prst="roundRect">
            <a:avLst>
              <a:gd name="adj" fmla="val 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1657350" y="2371725"/>
            <a:ext cx="885825" cy="1714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0" b="1">
                <a:solidFill>
                  <a:srgbClr val="0E3F8C"/>
                </a:solidFill>
                <a:latin typeface="Microsoft YaHei"/>
                <a:ea typeface="Microsoft YaHei"/>
              </a:rPr>
              <a:t>6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409700" y="4162425"/>
            <a:ext cx="1371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E4FA8"/>
                </a:solidFill>
                <a:latin typeface="Microsoft YaHei"/>
                <a:ea typeface="Microsoft YaHei"/>
              </a:rPr>
              <a:t>类可解释规则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1247775" y="4533900"/>
            <a:ext cx="17049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边沿触发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滞回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不刷屏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4076700" y="2057400"/>
            <a:ext cx="7734300" cy="400050"/>
          </a:xfrm>
          <a:prstGeom prst="roundRect">
            <a:avLst>
              <a:gd name="adj" fmla="val 190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4210050" y="21526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阈值超限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5200650" y="2162175"/>
            <a:ext cx="6477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应变值超过阈值，分级：预警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报警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严重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4076700" y="2571750"/>
            <a:ext cx="7734300" cy="400050"/>
          </a:xfrm>
          <a:prstGeom prst="roundRect">
            <a:avLst>
              <a:gd name="adj" fmla="val 190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4210050" y="266700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变化率突变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5200650" y="2676525"/>
            <a:ext cx="6477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相邻采样周期变化量超限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4076700" y="3086100"/>
            <a:ext cx="7734300" cy="400050"/>
          </a:xfrm>
          <a:prstGeom prst="roundRect">
            <a:avLst>
              <a:gd name="adj" fmla="val 190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4210050" y="31813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持续超限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5200650" y="3190875"/>
            <a:ext cx="6477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连续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N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点超限（区别于单点毛刺）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4076700" y="3600450"/>
            <a:ext cx="7734300" cy="400050"/>
          </a:xfrm>
          <a:prstGeom prst="roundRect">
            <a:avLst>
              <a:gd name="adj" fmla="val 190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4210050" y="369570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短时波动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5200650" y="3705225"/>
            <a:ext cx="6477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短窗口内峰谷差超限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4076700" y="4114800"/>
            <a:ext cx="7734300" cy="400050"/>
          </a:xfrm>
          <a:prstGeom prst="roundRect">
            <a:avLst>
              <a:gd name="adj" fmla="val 190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4210050" y="42100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基线偏移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5200650" y="4219575"/>
            <a:ext cx="6477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近期均值相对历史基线漂移超限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4076700" y="4629150"/>
            <a:ext cx="7734300" cy="400050"/>
          </a:xfrm>
          <a:prstGeom prst="roundRect">
            <a:avLst>
              <a:gd name="adj" fmla="val 190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4210050" y="472440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设备离线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5200650" y="4733925"/>
            <a:ext cx="6477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心跳超时，触发离线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恢复事件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381000" y="6248400"/>
            <a:ext cx="11430000" cy="609600"/>
          </a:xfrm>
          <a:custGeom>
            <a:pathLst>
              <a:path w="1200" h="64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381000" y="6477000"/>
            <a:ext cx="2409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8582025" y="6477000"/>
            <a:ext cx="3228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Microsoft YaHei"/>
                <a:ea typeface="Microsoft YaHei"/>
              </a:rPr>
              <a:t>示例：「应变值</a:t>
            </a: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135.00 με </a:t>
            </a:r>
            <a:r>
              <a:rPr lang="zh-CN" sz="1125" b="1">
                <a:solidFill>
                  <a:srgbClr val="0E3F8C"/>
                </a:solidFill>
                <a:latin typeface="Microsoft YaHei"/>
                <a:ea typeface="Microsoft YaHei"/>
              </a:rPr>
              <a:t>超过阈值</a:t>
            </a: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120.00 με</a:t>
            </a:r>
            <a:r>
              <a:rPr lang="zh-CN" sz="1125" b="1">
                <a:solidFill>
                  <a:srgbClr val="0E3F8C"/>
                </a:solidFill>
                <a:latin typeface="Microsoft YaHei"/>
                <a:ea typeface="Microsoft YaHei"/>
              </a:rPr>
              <a:t>」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50" name="" descr="&lt;Slide style={{ background: '#FFFFFF', width: '1280px', height: '720px', padding: '0 40px' }}&gt;&#10;  &lt;Box style={{ flexDirection: 'column', width: '100%', height: '100%' }}&gt;&#10;    &lt;Box style={{ height: 88, flexDirection: 'row', alignItems: 'center', justifyContent: 'space-between', borderBottom: '2px solid #1E4FA8' }}&gt;&#10;      &lt;Text style={{ fontSize: 32, fontWeight: 'bold', color: '#0E3F8C' }}&gt;SQLite 五表 + 全程审计&lt;/Text&gt;&#10;      &lt;Text style={{ fontSize: 14, color: '#8B97A8' }}&gt;桥体卫士&lt;/Text&gt;&#10;    &lt;/Box&gt;&#10;    &lt;Box style={{ flex: 1, flexDirection: 'row', gap: 24, padding: '18px 0' }}&gt;&#10;      &lt;Box style={{ width: '30%', background: '#0E3F8C', borderRadius: 10, padding: 24, flexDirection: 'column', justifyContent: 'center' }}&gt;&#10;        &lt;Text style={{ fontSize: 28, fontWeight: 'bold', color: '#FFFFFF' }}&gt;统一数据模型&lt;/Text&gt;&#10;        &lt;Text style={{ fontSize: 17, color: '#C9D9EF', marginTop: 14, lineHeight: 1.7 }}&gt;统一时间/设备/状态字段，参数变更全程留痕，历史可筛选、可导出 CSV&lt;/Text&gt;&#10;      &lt;/Box&gt;&#10;      &lt;Box style={{ flex: 1, flexDirection: 'column', justifyContent: 'center' }}&gt;&#10;        &lt;Table&#10;          style={{ width: '100%', height: 420 }}&#10;          defaultTextStyle={{ fontSize: 17, textAlign: 'center', color: '#1A2230' }}&#10;          defaultCellStyle={{ border: { left: { width: 1, color: '#D6DCE5' }, right: { width: 1, color: '#D6DCE5' }, top: { width: 1, color: '#D6DCE5' }, bottom: { width: 1, color: '#D6DCE5' } } }}&#10;          cells={[&#10;            [&#10;              { text: '表', textStyle: { bold: true, color: '#FFFFFF' }, cellStyle: { background: { color: '#0E3F8C' } } },&#10;              { text: '内容', textStyle: { bold: true, color: '#FFFFFF' }, cellStyle: { background: { color: '#0E3F8C' } } },&#10;              { text: '作用', textStyle: { bold: true, color: '#FFFFFF' }, cellStyle: { background: { color: '#0E3F8C' } } },&#10;            ],&#10;            [{ text: 'samples', textStyle: { bold: true } }, '采样数据', '实时曲线与历史比对'],&#10;            [{ text: 'device_heartbeat', textStyle: { bold: true } }, '心跳/离线/恢复事件', '设备健康度追溯'],&#10;            [{ text: 'alarms', textStyle: { bold: true } }, '报警（规则+原因+状态）', '可解释报警与处置'],&#10;            [{ text: 'settings', textStyle: { bold: true } }, '参数设置历史', '阈值/周期变更留痕'],&#10;            [{ text: 'audit', textStyle: { bold: true } }, '操作审计', '谁在何时做了什么'],&#10;          ]}&#10;        /&gt;&#10;      &lt;/Box&gt;&#10;    &lt;/Box&gt;&#10;    &lt;Box style={{ height: 40, flexDirection: 'row', justifyContent: 'space-between', alignItems: 'center', borderTop: '1px solid #E5E7EB' }}&gt;&#10;      &lt;Text style={{ fontSize: 14, color: '#8B97A8' }}&gt;桥体卫士 · 桥梁结构健康监测缩尺原型&lt;/Text&gt;&#10;      &lt;Text style={{ fontSize: 14, color: '#1E4FA8', fontWeight: 'bold' }}&gt;06 / 10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2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3337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SQLite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五表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全程审计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381000" y="1009650"/>
            <a:ext cx="3429000" cy="5295900"/>
          </a:xfrm>
          <a:prstGeom prst="roundRect">
            <a:avLst>
              <a:gd name="adj" fmla="val 277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09600" y="3095625"/>
            <a:ext cx="2971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统一数据模型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609600" y="3552825"/>
            <a:ext cx="29718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75">
                <a:solidFill>
                  <a:srgbClr val="C9D9EF"/>
                </a:solidFill>
                <a:latin typeface="Microsoft YaHei"/>
                <a:ea typeface="Microsoft YaHei"/>
              </a:rPr>
              <a:t>统一时间</a:t>
            </a:r>
            <a:r>
              <a:rPr lang="en-US" sz="1275">
                <a:solidFill>
                  <a:srgbClr val="C9D9EF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C9D9EF"/>
                </a:solidFill>
                <a:latin typeface="Microsoft YaHei"/>
                <a:ea typeface="Microsoft YaHei"/>
              </a:rPr>
              <a:t>设备</a:t>
            </a:r>
            <a:r>
              <a:rPr lang="en-US" sz="1275">
                <a:solidFill>
                  <a:srgbClr val="C9D9EF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C9D9EF"/>
                </a:solidFill>
                <a:latin typeface="Microsoft YaHei"/>
                <a:ea typeface="Microsoft YaHei"/>
              </a:rPr>
              <a:t>状态字段，参数变更全程留痕，历史可筛选、可导出</a:t>
            </a:r>
            <a:r>
              <a:rPr lang="en-US" sz="1275">
                <a:solidFill>
                  <a:srgbClr val="C9D9EF"/>
                </a:solidFill>
                <a:latin typeface="Microsoft YaHei"/>
                <a:ea typeface="Microsoft YaHei"/>
              </a:rPr>
              <a:t xml:space="preserve"> CSV</a:t>
            </a:r>
            <a:endParaRPr/>
          </a:p>
        </p:txBody>
      </p:sp>
      <p:graphicFrame>
        <p:nvGraphicFramePr>
          <p:cNvPr id="158" name=""/>
          <p:cNvGraphicFramePr/>
          <p:nvPr/>
        </p:nvGraphicFramePr>
        <p:xfrm rot="0" flipH="0" flipV="0">
          <a:off x="4038600" y="1657350"/>
          <a:ext cx="7772400" cy="4000500"/>
        </p:xfrm>
        <a:graphic>
          <a:graphicData uri="http://schemas.openxmlformats.org/drawingml/2006/table">
            <a:tbl>
              <a:tblGrid>
                <a:gridCol w="2308869">
                  <a:extLst>
                    <a:ext uri="{9D8B030D-6E8A-4147-A177-3AD203B41FA5}">
                      <a16:colId val="1"/>
                    </a:ext>
                  </a:extLst>
                </a:gridCol>
                <a:gridCol w="3050793">
                  <a:extLst>
                    <a:ext uri="{9D8B030D-6E8A-4147-A177-3AD203B41FA5}">
                      <a16:colId val="2"/>
                    </a:ext>
                  </a:extLst>
                </a:gridCol>
                <a:gridCol w="2412738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作用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samples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采样数据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实时曲线与历史比对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device_heartbeat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心跳/离线/恢复事件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设备健康度追溯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alarms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报警（规则+原因+状态）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可解释报警与处置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settings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参数设置历史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阈值/周期变更留痕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audit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操作审计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谁在何时做了什么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159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10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62" name="" descr="&lt;Slide style={{ background: '#FFFFFF', width: '1280px', height: '720px', padding: '0 40px' }}&gt;&#10;  &lt;Box style={{ flexDirection: 'column', width: '100%', height: '100%' }}&gt;&#10;    &lt;Box style={{ height: 88, flexDirection: 'row', alignItems: 'center', justifyContent: 'space-between', borderBottom: '2px solid #1E4FA8' }}&gt;&#10;      &lt;Text style={{ fontSize: 32, fontWeight: 'bold', color: '#0E3F8C' }}&gt;安全与工程化 —— 能交付的程度&lt;/Text&gt;&#10;      &lt;Text style={{ fontSize: 14, color: '#8B97A8' }}&gt;桥体卫士&lt;/Text&gt;&#10;    &lt;/Box&gt;&#10;    &lt;Box style={{ flex: 1, flexDirection: 'row', gap: 24, padding: '18px 0' }}&gt;&#10;      &lt;Box style={{ flex: 1.5, flexDirection: 'column', gap: 14 }}&gt;&#10;        &lt;Text style={{ fontSize: 22, fontWeight: 'bold', color: '#0E3F8C' }}&gt;安全防护&lt;/Text&gt;&#10;        {[&#10;          { t: '密钥环境变量化', d: '账号、密码、SECRET_KEY 走 .env，不硬编码进源码' },&#10;          { t: '统一鉴权', d: '所有页面与 API 统一登录保护，未登录 API 返回 401' },&#10;          { t: '写接口保护', d: '清除/改参/确认等写操作受鉴权与校验约束' },&#10;        ].map((item, idx) =&gt; (&#10;          &lt;Box key={idx} style={{ flexDirection: 'row', gap: 14, background: '#F7F9FC', border: '1px solid #D6DCE5', borderRadius: 8, padding: '14px 16px', alignItems: 'center' }}&gt;&#10;            &lt;Text style={{ fontSize: 18, fontWeight: 'bold', color: '#1E4FA8', width: 150 }}&gt;{item.t}&lt;/Text&gt;&#10;            &lt;Text style={{ fontSize: 17, color: '#4A5568', flex: 1 }}&gt;{item.d}&lt;/Text&gt;&#10;          &lt;/Box&gt;&#10;        ))}&#10;      &lt;/Box&gt;&#10;      &lt;Box style={{ flex: 1, flexDirection: 'column', gap: 14, background: '#E8EFF8', borderRadius: 10, padding: 20 }}&gt;&#10;        &lt;Text style={{ fontSize: 22, fontWeight: 'bold', color: '#0E3F8C' }}&gt;工程化&lt;/Text&gt;&#10;        &lt;Box style={{ flexDirection: 'row', alignItems: 'baseline', gap: 8 }}&gt;&#10;          &lt;Text style={{ fontSize: 60, fontWeight: 'bold', color: '#1E4FA8' }}&gt;28&lt;/Text&gt;&#10;          &lt;Text style={{ fontSize: 18, color: '#4A5568' }}&gt;项自动化测试全绿&lt;/Text&gt;&#10;        &lt;/Box&gt;&#10;        &lt;Text style={{ fontSize: 17, color: '#4A5568', lineHeight: 1.6 }}&gt;规则引擎 / 数据层 / 鉴权 / API / 设备心跳 / 串口链路，覆盖核心链路&lt;/Text&gt;&#10;        &lt;Box style={{ height: 1, background: '#D6DCE5' }} /&gt;&#10;        &lt;Text style={{ fontSize: 17, color: '#4A5568', lineHeight: 1.7 }}&gt;依赖清单 requirements.txt · 配置模板 .env.example · 现场启动手册&lt;/Text&gt;&#10;      &lt;/Box&gt;&#10;    &lt;/Box&gt;&#10;    &lt;Box style={{ height: 40, flexDirection: 'row', justifyContent: 'space-between', alignItems: 'center', borderTop: '1px solid #E5E7EB' }}&gt;&#10;      &lt;Text style={{ fontSize: 14, color: '#8B97A8' }}&gt;桥体卫士 · 桥梁结构健康监测缩尺原型&lt;/Text&gt;&#10;      &lt;Text style={{ fontSize: 14, color: '#1E4FA8', fontWeight: 'bold' }}&gt;07 / 10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4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45053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安全与工程化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能交付的程度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381000" y="1009650"/>
            <a:ext cx="6724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安全防护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381000" y="1400175"/>
            <a:ext cx="6724650" cy="47625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533400" y="1533525"/>
            <a:ext cx="1428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密钥环境变量化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2095500" y="1543050"/>
            <a:ext cx="4857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账号、密码、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SECRET_KEY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走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.env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，不硬编码进源码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381000" y="2009775"/>
            <a:ext cx="6724650" cy="47625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533400" y="2143125"/>
            <a:ext cx="1428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统一鉴权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2095500" y="2152650"/>
            <a:ext cx="4857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所有页面与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API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统一登录保护，未登录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API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返回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401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381000" y="2619375"/>
            <a:ext cx="6724650" cy="47625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533400" y="2752725"/>
            <a:ext cx="1428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写接口保护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2095500" y="2762250"/>
            <a:ext cx="4857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清除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改参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确认等写操作受鉴权与校验约束</a:t>
            </a:r>
            <a:endParaRPr/>
          </a:p>
        </p:txBody>
      </p:sp>
      <p:sp>
        <p:nvSpPr>
          <p:cNvPr id="177" name=""/>
          <p:cNvSpPr/>
          <p:nvPr/>
        </p:nvSpPr>
        <p:spPr>
          <a:xfrm rot="0" flipH="0" flipV="0">
            <a:off x="7334250" y="1009650"/>
            <a:ext cx="4476750" cy="5295900"/>
          </a:xfrm>
          <a:prstGeom prst="roundRect">
            <a:avLst>
              <a:gd name="adj" fmla="val 212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7524750" y="1200150"/>
            <a:ext cx="4095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工程化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7524750" y="1590675"/>
            <a:ext cx="714375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500" b="1">
                <a:solidFill>
                  <a:srgbClr val="1E4FA8"/>
                </a:solidFill>
                <a:latin typeface="Microsoft YaHei"/>
                <a:ea typeface="Microsoft YaHei"/>
              </a:rPr>
              <a:t>28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315325" y="1590675"/>
            <a:ext cx="13716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项自动化测试全绿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7524750" y="2409825"/>
            <a:ext cx="409575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规则引擎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数据层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鉴权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API /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设备心跳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串口链路，覆盖核心链路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7524750" y="3171825"/>
            <a:ext cx="409575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7524750" y="3314700"/>
            <a:ext cx="409575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依赖清单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requirements.txt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配置模板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.env.example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现场启动手册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07 / 10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87" name="" descr="&lt;Slide style={{ background: '#FFFFFF', width: '1280px', height: '720px', padding: '0 40px' }}&gt;&#10;  &lt;Box style={{ flexDirection: 'column', width: '100%', height: '100%' }}&gt;&#10;    &lt;Box style={{ height: 88, flexDirection: 'row', alignItems: 'center', justifyContent: 'space-between', borderBottom: '2px solid #1E4FA8' }}&gt;&#10;      &lt;Text style={{ fontSize: 32, fontWeight: 'bold', color: '#0E3F8C' }}&gt;硬件本地双重预警&lt;/Text&gt;&#10;      &lt;Text style={{ fontSize: 14, color: '#8B97A8' }}&gt;桥体卫士&lt;/Text&gt;&#10;    &lt;/Box&gt;&#10;    &lt;Box style={{ flex: 1, flexDirection: 'column', justifyContent: 'center', gap: 20, padding: '18px 0' }}&gt;&#10;      &lt;Box style={{ flexDirection: 'row', alignItems: 'center', gap: 12 }}&gt;&#10;        {['HX711 采集', 'OLED 显示', 'LED / 蜂鸣器', '串口上行', 'Web 大屏'].map((item, idx) =&gt; (&#10;          &lt;Box key={idx} style={{ flex: 1, flexDirection: 'column', alignItems: 'center', gap: 8, background: idx === 4 ? '#0E3F8C' : '#E8EFF8', borderRadius: 10, padding: '22px 10px' }}&gt;&#10;            &lt;Text style={{ fontSize: 20, fontWeight: 'bold', color: idx === 4 ? '#FFFFFF' : '#0E3F8C' }}&gt;{item}&lt;/Text&gt;&#10;            &lt;Text style={{ fontSize: 14, color: idx === 4 ? '#C9D9EF' : '#4A5568' }}&gt;{idx === 0 ? '压力传感器' : idx === 1 ? '实时数值/状态' : idx === 2 ? '本地声光预警' : idx === 3 ? 'JSON 数据' : '实时监测'}&lt;/Text&gt;&#10;          &lt;/Box&gt;&#10;        ))}&#10;      &lt;/Box&gt;&#10;      &lt;Box style={{ flexDirection: 'row', gap: 16 }}&gt;&#10;        &lt;Box style={{ flex: 1, background: '#F7F9FC', border: '1px solid #D6DCE5', borderRadius: 10, padding: 18 }}&gt;&#10;          &lt;Text style={{ fontSize: 19, fontWeight: 'bold', color: '#0E3F8C' }}&gt;不依赖上位机&lt;/Text&gt;&#10;          &lt;Text style={{ fontSize: 17, color: '#4A5568', marginTop: 8, lineHeight: 1.6 }}&gt;即使电脑没启动，硬件也能本地声光报警，双重保障。&lt;/Text&gt;&#10;        &lt;/Box&gt;&#10;        &lt;Box style={{ flex: 1, background: '#F7F9FC', border: '1px solid #D6DCE5', borderRadius: 10, padding: 18 }}&gt;&#10;          &lt;Text style={{ fontSize: 19, fontWeight: 'bold', color: '#0E3F8C' }}&gt;MicroPython 固件&lt;/Text&gt;&#10;          &lt;Text style={{ fontSize: 17, color: '#4A5568', marginTop: 8, lineHeight: 1.6 }}&gt;HX711 读取直接实现，不依赖第三方库，代码可控、可答辩。&lt;/Text&gt;&#10;        &lt;/Box&gt;&#10;        &lt;Box style={{ flex: 1, background: '#F7F9FC', border: '1px solid #D6DCE5', borderRadius: 10, padding: 18 }}&gt;&#10;          &lt;Text style={{ fontSize: 19, fontWeight: 'bold', color: '#0E3F8C' }}&gt;诚实标定&lt;/Text&gt;&#10;          &lt;Text style={{ fontSize: 17, color: '#4A5568', marginTop: 8, lineHeight: 1.6 }}&gt;零点 + 比例系数标定，读数随载荷单调稳定，不声称工程精度。&lt;/Text&gt;&#10;        &lt;/Box&gt;&#10;      &lt;/Box&gt;&#10;    &lt;/Box&gt;&#10;    &lt;Box style={{ height: 40, flexDirection: 'row', justifyContent: 'space-between', alignItems: 'center', borderTop: '1px solid #E5E7EB' }}&gt;&#10;      &lt;Text style={{ fontSize: 14, color: '#8B97A8' }}&gt;桥体卫士 · 桥梁结构健康监测缩尺原型&lt;/Text&gt;&#10;      &lt;Text style={{ fontSize: 14, color: '#1E4FA8', fontWeight: 'bold' }}&gt;08 / 10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89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4384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硬件本地双重预警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381000" y="2486025"/>
            <a:ext cx="2190750" cy="885825"/>
          </a:xfrm>
          <a:prstGeom prst="roundRect">
            <a:avLst>
              <a:gd name="adj" fmla="val 1075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933450" y="2695575"/>
            <a:ext cx="10858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HX711 </a:t>
            </a: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采集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1143000" y="3000375"/>
            <a:ext cx="666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压力传感器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2686050" y="2486025"/>
            <a:ext cx="2200275" cy="885825"/>
          </a:xfrm>
          <a:prstGeom prst="roundRect">
            <a:avLst>
              <a:gd name="adj" fmla="val 1075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3305175" y="2695575"/>
            <a:ext cx="962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OLED </a:t>
            </a: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显示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3362325" y="3000375"/>
            <a:ext cx="857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实时数值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状态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5000625" y="2486025"/>
            <a:ext cx="2190750" cy="885825"/>
          </a:xfrm>
          <a:prstGeom prst="roundRect">
            <a:avLst>
              <a:gd name="adj" fmla="val 1075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5524500" y="2695575"/>
            <a:ext cx="1143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LED / </a:t>
            </a: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蜂鸣器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5695950" y="3000375"/>
            <a:ext cx="800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本地声光预警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7305675" y="2486025"/>
            <a:ext cx="2200275" cy="885825"/>
          </a:xfrm>
          <a:prstGeom prst="roundRect">
            <a:avLst>
              <a:gd name="adj" fmla="val 1075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8029575" y="2695575"/>
            <a:ext cx="762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串口上行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8077200" y="3000375"/>
            <a:ext cx="657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JSON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数据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9620250" y="2486025"/>
            <a:ext cx="2190750" cy="885825"/>
          </a:xfrm>
          <a:prstGeom prst="roundRect">
            <a:avLst>
              <a:gd name="adj" fmla="val 1075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0277475" y="2695575"/>
            <a:ext cx="876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Web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大屏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0448925" y="3000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C9D9EF"/>
                </a:solidFill>
                <a:latin typeface="Microsoft YaHei"/>
                <a:ea typeface="Microsoft YaHei"/>
              </a:rPr>
              <a:t>实时监测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381000" y="3562350"/>
            <a:ext cx="3705225" cy="1266825"/>
          </a:xfrm>
          <a:prstGeom prst="roundRect">
            <a:avLst>
              <a:gd name="adj" fmla="val 751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552450" y="3733800"/>
            <a:ext cx="3362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不依赖上位机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552450" y="4029075"/>
            <a:ext cx="33623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即使电脑没启动，硬件也能本地声光报警，双重保障。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4238625" y="3562350"/>
            <a:ext cx="3714750" cy="1266825"/>
          </a:xfrm>
          <a:prstGeom prst="roundRect">
            <a:avLst>
              <a:gd name="adj" fmla="val 751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4410075" y="3733800"/>
            <a:ext cx="3371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MicroPython </a:t>
            </a: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固件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4410075" y="4029075"/>
            <a:ext cx="337185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HX711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读取直接实现，不依赖第三方库，代码可控、可答辩。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8105775" y="3562350"/>
            <a:ext cx="3705225" cy="1266825"/>
          </a:xfrm>
          <a:prstGeom prst="roundRect">
            <a:avLst>
              <a:gd name="adj" fmla="val 751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8277225" y="3733800"/>
            <a:ext cx="3362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诚实标定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8277225" y="4029075"/>
            <a:ext cx="33623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零点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比例系数标定，读数随载荷单调稳定，不声称工程精度。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08 / 10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19" name="" descr="&lt;Slide style={{ background: '#FFFFFF', width: '1280px', height: '720px', padding: '0 40px' }}&gt;&#10;  &lt;Box style={{ flexDirection: 'column', width: '100%', height: '100%' }}&gt;&#10;    &lt;Box style={{ height: 88, flexDirection: 'row', alignItems: 'center', justifyContent: 'space-between', borderBottom: '2px solid #1E4FA8' }}&gt;&#10;      &lt;Text style={{ fontSize: 32, fontWeight: 'bold', color: '#0E3F8C' }}&gt;演示闭环 + 测试证据&lt;/Text&gt;&#10;      &lt;Text style={{ fontSize: 14, color: '#8B97A8' }}&gt;桥体卫士&lt;/Text&gt;&#10;    &lt;/Box&gt;&#10;    &lt;Box style={{ flex: 1, flexDirection: 'row', gap: 24, padding: '18px 0' }}&gt;&#10;      &lt;Box style={{ width: '56%', flexDirection: 'column', justifyContent: 'center', gap: 10 }}&gt;&#10;        {['① 施加载荷，应变值上升', '② 超过阈值，风险等级变色', '③ 硬件蜂鸣器响、红灯亮', '④ Web 弹出可解释报警', '⑤ 点击「确认处理」闭环', '⑥ 历史时间线 + 统计 + 导出', '⑦ 拔线，如实显示「设备离线」'].map((item, idx) =&gt; (&#10;          &lt;Box key={idx} style={{ flexDirection: 'row', alignItems: 'center', gap: 14, background: idx === 3 ? '#E8EFF8' : '#F7F9FC', border: '1px solid #D6DCE5', borderRadius: 8, padding: '9px 14px' }}&gt;&#10;            &lt;Text style={{ fontSize: 18, color: '#1E4FA8', fontWeight: 'bold' }}&gt;{item.split(' ')[0]}&lt;/Text&gt;&#10;            &lt;Text style={{ fontSize: 17, color: '#4A5568', flex: 1 }}&gt;{item.slice(item.indexOf(' '))}&lt;/Text&gt;&#10;          &lt;/Box&gt;&#10;        ))}&#10;      &lt;/Box&gt;&#10;      &lt;Box style={{ flex: 1, flexDirection: 'column', justifyContent: 'center', gap: 14 }}&gt;&#10;        &lt;Box style={{ background: '#E8EFF8', borderRadius: 10, padding: 20 }}&gt;&#10;          &lt;Text style={{ fontSize: 22, fontWeight: 'bold', color: '#0E3F8C' }}&gt;自动化测试 28 项全绿&lt;/Text&gt;&#10;          &lt;Text style={{ fontSize: 17, color: '#4A5568', marginTop: 10, lineHeight: 1.6 }}&gt;规则引擎（含防刷屏、等级分级）· 数据层 · 鉴权 · API 端到端 · 设备心跳 · 串口链路&lt;/Text&gt;&#10;        &lt;/Box&gt;&#10;        &lt;Box style={{ background: '#F7F9FC', border: '1px solid #D6DCE5', borderRadius: 10, padding: 20 }}&gt;&#10;          &lt;Text style={{ fontSize: 22, fontWeight: 'bold', color: '#0E3F8C' }}&gt;冒烟测试&lt;/Text&gt;&#10;          &lt;Text style={{ fontSize: 17, color: '#4A5568', marginTop: 10, lineHeight: 1.6 }}&gt;登录 302 · 大屏 200 · 未登录 API 401 · 数据快照含设备健康度&lt;/Text&gt;&#10;        &lt;/Box&gt;&#10;      &lt;/Box&gt;&#10;    &lt;/Box&gt;&#10;    &lt;Box style={{ height: 40, flexDirection: 'row', justifyContent: 'space-between', alignItems: 'center', borderTop: '1px solid #E5E7EB' }}&gt;&#10;      &lt;Text style={{ fontSize: 14, color: '#8B97A8' }}&gt;桥体卫士 · 桥梁结构健康监测缩尺原型&lt;/Text&gt;&#10;      &lt;Text style={{ fontSize: 14, color: '#1E4FA8', fontWeight: 'bold' }}&gt;09 / 10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1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8575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演示闭环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测试证据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381000" y="203835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514350" y="212407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819150" y="213360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施加载荷，应变值上升</a:t>
            </a:r>
            <a:endParaRPr/>
          </a:p>
        </p:txBody>
      </p:sp>
      <p:sp>
        <p:nvSpPr>
          <p:cNvPr id="227" name=""/>
          <p:cNvSpPr/>
          <p:nvPr/>
        </p:nvSpPr>
        <p:spPr>
          <a:xfrm rot="0" flipH="0" flipV="0">
            <a:off x="381000" y="251460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514350" y="26003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②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819150" y="260985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超过阈值，风险等级变色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381000" y="299085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514350" y="307657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③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819150" y="308610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硬件蜂鸣器响、红灯亮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381000" y="346710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514350" y="35528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④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19150" y="356235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Web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弹出可解释报警</a:t>
            </a:r>
            <a:endParaRPr/>
          </a:p>
        </p:txBody>
      </p:sp>
      <p:sp>
        <p:nvSpPr>
          <p:cNvPr id="236" name=""/>
          <p:cNvSpPr/>
          <p:nvPr/>
        </p:nvSpPr>
        <p:spPr>
          <a:xfrm rot="0" flipH="0" flipV="0">
            <a:off x="381000" y="394335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514350" y="402907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⑤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819150" y="403860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点击「确认处理」闭环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381000" y="441960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514350" y="45053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⑥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819150" y="451485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历史时间线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统计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导出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381000" y="489585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514350" y="498157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⑦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819150" y="499110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拔线，如实显示「设备离线」</a:t>
            </a:r>
            <a:endParaRPr/>
          </a:p>
        </p:txBody>
      </p:sp>
      <p:sp>
        <p:nvSpPr>
          <p:cNvPr id="245" name=""/>
          <p:cNvSpPr/>
          <p:nvPr/>
        </p:nvSpPr>
        <p:spPr>
          <a:xfrm rot="0" flipH="0" flipV="0">
            <a:off x="7010400" y="2228850"/>
            <a:ext cx="4800600" cy="1362075"/>
          </a:xfrm>
          <a:prstGeom prst="roundRect">
            <a:avLst>
              <a:gd name="adj" fmla="val 699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7200900" y="2419350"/>
            <a:ext cx="4419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自动化测试</a:t>
            </a: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28 </a:t>
            </a: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项全绿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7200900" y="2771775"/>
            <a:ext cx="44196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规则引擎（含防刷屏、等级分级）·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数据层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鉴权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API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端到端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设备心跳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串口链路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7010400" y="3724275"/>
            <a:ext cx="4800600" cy="1362075"/>
          </a:xfrm>
          <a:prstGeom prst="roundRect">
            <a:avLst>
              <a:gd name="adj" fmla="val 699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200900" y="3914775"/>
            <a:ext cx="4419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冒烟测试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7200900" y="4267200"/>
            <a:ext cx="44196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登录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302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大屏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200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未登录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API 401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数据快照含设备健康度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10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3" name="" descr="&lt;Slide style={{ background: '#0E3F8C', width: '1280px', height: '720px', padding: '0 40px' }}&gt;&#10;  &lt;Box style={{ flexDirection: 'column', width: '100%', height: '100%' }}&gt;&#10;    &lt;Box style={{ flex: 1, flexDirection: 'row', alignItems: 'center', gap: 40 }}&gt;&#10;      &lt;Box style={{ width: '30%', flexDirection: 'column', alignItems: 'center', justifyContent: 'center' }}&gt;&#10;        &lt;Text style={{ fontSize: 180, fontWeight: 'bold', color: '#FFFFFF', lineHeight: 1 }}&gt;10&lt;/Text&gt;&#10;        &lt;Text style={{ fontSize: 22, color: '#C9D9EF', marginTop: 10, fontWeight: 'bold' }}&gt;个可证明的创新点&lt;/Text&gt;&#10;      &lt;/Box&gt;&#10;      &lt;Box style={{ flex: 1, flexDirection: 'column', gap: 14 }}&gt;&#10;        {[&#10;          '双模式数据源抽象，一键切换可兜底',&#10;          '6 类可解释规则，每条报警带原因',&#10;          '边沿触发 + 滞回，不刷屏',&#10;          '设备健康度模型，断线如实离线',&#10;          '设备离线/恢复事件，处置闭环',&#10;          'SQLite 五表 + 全程审计',&#10;          '历史动态阈值，三端一致',&#10;          '硬件本地双重预警',&#10;          '离线可用，不依赖网络',&#10;          '28 项测试的完整工程化',&#10;        ].map((item, idx) =&gt; (&#10;          &lt;Box key={idx} style={{ flexDirection: 'row', alignItems: 'center', gap: 14 }}&gt;&#10;            &lt;Text style={{ fontSize: 18, fontWeight: 'bold', color: '#FFC107', width: 30 }}&gt;{idx + 1}&lt;/Text&gt;&#10;            &lt;Text style={{ fontSize: 19, color: '#FFFFFF' }}&gt;{item}&lt;/Text&gt;&#10;          &lt;/Box&gt;&#10;        ))}&#10;      &lt;/Box&gt;&#10;    &lt;/Box&gt;&#10;    &lt;Box style={{ height: 100, flexDirection: 'column', justifyContent: 'center', alignItems: 'center', borderTop: '1px solid #3D5B8C' }}&gt;&#10;      &lt;Text style={{ fontSize: 26, fontWeight: 'bold', color: '#FFFFFF', letterSpacing: 2 }}&gt;说得出口，必拿得出证据&lt;/Text&gt;&#10;      &lt;Text style={{ fontSize: 16, color: '#C9D9EF', marginTop: 10 }}&gt;感谢各位评委 · 展望：HTTP 备份通道 · 多测点扩展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1038225" y="1752600"/>
            <a:ext cx="2124075" cy="2057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0" b="1">
                <a:solidFill>
                  <a:srgbClr val="FFFFFF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1257300" y="3905250"/>
            <a:ext cx="1676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C9D9EF"/>
                </a:solidFill>
                <a:latin typeface="Microsoft YaHei"/>
                <a:ea typeface="Microsoft YaHei"/>
              </a:rPr>
              <a:t>个可证明的创新点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4191000" y="1266825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4610100" y="1257300"/>
            <a:ext cx="28956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双模式数据源抽象，一键切换可兜底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4191000" y="161925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4610100" y="1609725"/>
            <a:ext cx="2695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类可解释规则，每条报警带原因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4191000" y="1971675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4610100" y="1962150"/>
            <a:ext cx="2057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边沿触发</a:t>
            </a: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滞回，不刷屏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4191000" y="232410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4610100" y="2314575"/>
            <a:ext cx="25336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设备健康度模型，断线如实离线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4191000" y="2676525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4610100" y="2667000"/>
            <a:ext cx="2438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设备离线</a:t>
            </a: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>/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恢复事件，处置闭环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4191000" y="302895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6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4610100" y="3019425"/>
            <a:ext cx="1943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 xml:space="preserve">SQLite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五表</a:t>
            </a: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全程审计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4191000" y="3381375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7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4610100" y="3371850"/>
            <a:ext cx="1990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历史动态阈值，三端一致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4191000" y="373380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8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4610100" y="3724275"/>
            <a:ext cx="1447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硬件本地双重预警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4191000" y="4086225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9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4610100" y="4076700"/>
            <a:ext cx="1809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离线可用，不依赖网络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4191000" y="443865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4610100" y="4429125"/>
            <a:ext cx="1895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 xml:space="preserve">28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项测试的完整工程化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381000" y="5905500"/>
            <a:ext cx="11430000" cy="952500"/>
          </a:xfrm>
          <a:custGeom>
            <a:pathLst>
              <a:path w="1200" h="10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3D5B8C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4629150" y="6096000"/>
            <a:ext cx="29337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 spc="150">
                <a:solidFill>
                  <a:srgbClr val="FFFFFF"/>
                </a:solidFill>
                <a:latin typeface="Microsoft YaHei"/>
                <a:ea typeface="Microsoft YaHei"/>
              </a:rPr>
              <a:t>说得出口，必拿得出证据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4381500" y="6496050"/>
            <a:ext cx="3438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C9D9EF"/>
                </a:solidFill>
                <a:latin typeface="Microsoft YaHei"/>
                <a:ea typeface="Microsoft YaHei"/>
              </a:rPr>
              <a:t>感谢各位评委</a:t>
            </a:r>
            <a:r>
              <a:rPr lang="en-US" sz="1200">
                <a:solidFill>
                  <a:srgbClr val="C9D9E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C9D9EF"/>
                </a:solidFill>
                <a:latin typeface="Microsoft YaHei"/>
                <a:ea typeface="Microsoft YaHei"/>
              </a:rPr>
              <a:t>展望：</a:t>
            </a:r>
            <a:r>
              <a:rPr lang="en-US" sz="1200">
                <a:solidFill>
                  <a:srgbClr val="C9D9EF"/>
                </a:solidFill>
                <a:latin typeface="Microsoft YaHei"/>
                <a:ea typeface="Microsoft YaHei"/>
              </a:rPr>
              <a:t xml:space="preserve">HTTP </a:t>
            </a:r>
            <a:r>
              <a:rPr lang="zh-CN" sz="1200">
                <a:solidFill>
                  <a:srgbClr val="C9D9EF"/>
                </a:solidFill>
                <a:latin typeface="Microsoft YaHei"/>
                <a:ea typeface="Microsoft YaHei"/>
              </a:rPr>
              <a:t>备份通道</a:t>
            </a:r>
            <a:r>
              <a:rPr lang="en-US" sz="1200">
                <a:solidFill>
                  <a:srgbClr val="C9D9E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C9D9EF"/>
                </a:solidFill>
                <a:latin typeface="Microsoft YaHei"/>
                <a:ea typeface="Microsoft YaHei"/>
              </a:rPr>
              <a:t>多测点扩展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2026-09-27T22:25:34Z</dcterms:created>
  <dcterms:modified xsi:type="dcterms:W3CDTF">2026-09-27T22:25:34Z</dcterms:modified>
</cp:coreProperties>
</file>